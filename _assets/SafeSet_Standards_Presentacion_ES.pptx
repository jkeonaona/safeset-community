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Bienvenido/a. Si estás viendo esto, eres fotógrafo/a o modelo y quieres participar en un evento TFP del Área de la Bahía — y eso es genial.
TFP — trade for print — es una tradición arraigada en la comunidad fotográfica. Los fotógrafos construyen su portafolio, los modelos obtienen imágenes profesionales, y todos se van con algo valioso. En su mejor forma, es una experiencia creativa genuinamente colaborativa.
Pero como cualquier cosa que reúne a desconocidos en un espacio creativo y a veces físico, funciona mucho mejor cuando todos llegan con las mismas expectativas. Eso es lo que esto es.
Esto no se trata de desconfianza. No se trata de asumir lo peor de las personas. Se trata de establecer una base profesional compartida — para que los fotógrafos puedan enfocarse en su arte, los modelos en su trabajo, y nadie tenga que preguntarse dónde está el límite. Cuando los límites están claros desde el principio, toda la experiencia es mejor para todos.
Este video cubre los estándares que tanto fotógrafos como modelos aceptan antes de participar en cualquier evento de la comunidad. Aplica igualmente para ambos lados — sin excepciones. Al final, se te pedirá que firmes un acuerdo simple confirmando que viste esto y entiendes lo que se espera. Esa firma va al organizador del evento, y es tu entrada al evento.
Empecemos.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Hablemos de tu rol como fotógrafo/a. Tú eres quien tiene el equipo. Tú eres quien dirige la sesión. Eso te pone en una posición de autoridad — y con eso viene la responsabilidad.
Regla número uno: No tocas al modelo. Jamás. No para arreglarle el cabello. No para ajustar su postura. No para mover su barbilla. No para acomodar su ropa.
Si necesitas que un modelo esté en una posición específica, tienes tres opciones. Primera — descríbela verbalmente. Con claridad y profesionalismo. Segunda — demuéstrala tú mismo/a. Muéstrale la pose y deja que el modelo te imite. Tercera — si ninguna funciona, pide a un asistente del mismo sexo o al padre, madre o acompañante del modelo que haga el ajuste.
Eso es todo. Esas son tus opciones. No hay ningún escenario donde tus manos sobre un modelo sea aceptable.
Esto no solo se trata de proteger al modelo. Te protege a ti también. En el momento en que haces contacto físico sin consentimiento previo claro, has creado una situación que puede malinterpretarse, distorsionarse o escalarse — independientemente de tu intención.
Esas son tus tres opciones. No hay una cuarta.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hay menores de edad involucrados, el estándar es aún más alto.
Un padre, madre o tutor legal debe estar presente en el set y activamente presente — no en el estacionamiento, no en su teléfono en una mesa de picnic. En el set. Observando. Involucrado. Si el padre o madre no está presente y atento, la sesión no ocurre. Punto final.
No compartas, publiques ni distribuyas ninguna imagen de una sesión sin el acuerdo explícito del modelo. Para menores, ese acuerdo debe venir del padre, madre o tutor por escrito. Publicar sin permiso no solo es una falta de respeto — puede tener consecuencias legales.
Habla con tu modelo como un profesional. Sé claro sobre lo que buscas. Verifica — pregunta si están cómodos, si entienden la dirección, si necesitan un descanso. Los mejores fotógrafos hacen que sus sujetos se sientan seguros y confiados. Eso no es debilidad — es habilidad.
Si viola cualquiera de estos estándares, estás sujeto a expulsión del grupo — sin apelaciones, sin excepciones.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hablemos con los modelos. Todo lo que acabas de escuchar sobre respeto y profesionalismo — va en ambas direcciones. Un set seguro es responsabilidad de todos, no solo del fotógrafo. Eres un profesional creativo que participa en un proyecto colaborativo. Eso significa que traes el mismo nivel de profesionalismo a la sesión que el que esperas recibir.
Sin contacto físico no solicitado. No inicies contacto físico con el fotógrafo, otros fotógrafos presentes, ni el equipo. Eso significa no tocar su equipo sin permiso, no agarrarle el brazo para mostrarle lo que quieres, y ningún gesto físico que invada el espacio personal sin invitación. Si un fotógrafo mantiene distancia y límites profesionales — eso no es frialdad, es respeto. Corresponde de la misma manera.
Si quieres redirigir la dirección creativa, dilo verbalmente. No lo demuestres físicamente sobre el fotógrafo.
Si el concepto acordado empieza a cambiar hacia una dirección con la que no te sientes cómodo, tienes todo el derecho de decirlo y redirigir. Verbalmente. Con claridad. Profesionalmente.
Puedes detener la sesión en cualquier momento. Sin necesidad de explicación. Simplemente di que necesitas parar. Este derecho también existe para los fotógrafos. Va en ambas direcciones.
Tu voz es tu herramienta más importante en el set — úsala.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estas alturas ya escuchaste lo que se espera de los fotógrafos y lo que se espera de los modelos. Esta sección trata de lo que se espera de todos — porque un ambiente creativo seguro y profesional es una responsabilidad compartida.
El respeto mutuo no es negociable. No importa tu nivel de experiencia, tus seguidores, el tamaño de tu portafolio, o cuántas sesiones hayas hecho. Cada persona en el set merece ser tratada con respeto humano básico. La condescendencia, la intimidación, el desprecio — nada de eso tiene lugar aquí.
Si algo sucede que te hace sentir incómodo — esto es lo que debes hacer. Primero, di algo. Directamente y con calma. "No me siento cómodo con eso" es una oración completa. No necesitas justificarlo. Segundo, si eso no lo resuelve — detén la sesión. Aléjate. Tercero, repórtalo. Dile al organizador del evento qué pasó, cuándo y quién estuvo involucrado. Sé específico. La comunidad solo puede autocorregirse cuando los problemas se reportan.
Cero tolerancia para represalias — en línea o en persona. Manéjalo a través del organizador. Punto.
Este grupo reúne a personas de muchos orígenes diferentes. Lo que le parece normal a una persona puede sentirse invasivo para otra. En caso de duda,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Seamos claros sobre las consecuencias. Lo siguiente resultará en expulsión inmediata de la comunidad, sin apelación.
Cualquier contacto físico no deseado. Cualquier conducta inapropiada que involucre a un menor. Represalias contra alguien que expresó una preocupación. Distribución de imágenes sin consentimiento. Acoso de cualquier tipo — en línea o en persona.
Esto no se trata de controlar la creatividad. Se trata de asegurarse de que todos se vayan a casa sintiéndose bien con lo que crearon y con quién lo crearon. No hay apelaciones. No hay excepciones.
Los derechos de imagen también aplican para ambos lados. Nadie publica, comparte, vende ni distribuye imágenes sin el conocimiento y acuerdo de la otra parte. Para menores, se requiere consentimiento escrito del padre o madre antes de que cualquier imagen vea la luz — redes sociales, portafolios, sitios web, en cualquier lugar.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Llegaste al final — y eso importa. Significa que te tomaste el tiempo para entender lo que esta comunidad espera de ti, y lo que puedes esperar de todos a tu alrededor.
Si eres fotógrafo — diriges con palabras, no con manos. Respetas a cada modelo como profesional. Sigues estándares más estrictos en el momento en que hay un menor involucrado. No distribuyes imágenes sin consentimiento.
Si eres modelo — traes el mismo profesionalismo que esperas recibir. Mantienes los límites apropiados. Te comunicas verbalmente. Puedes detener cualquier sesión en cualquier momento.
Si eres padre, madre o tutor — tu presencia en el set no es opcional. Es la condición bajo la cual tu menor participa. Activo, atento y disponible en todo momento.
El respeto es el mínimo, no el máximo. Estos estándares son el punto de partida.
Regístrate con tu nombre, correo y rol en el enlace de la publicación del grupo. Completa este video en su totalidad. Marca la casilla de confirmación. Recibirás un código QR personalizado por correo. Guárdalo en tu teléfono.
Sin código QR — sin entrada. Sin excepciones.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ve a crear algo increíble.
Aceptaste los estándares. Sabes qué se espera. El resto es creatividad.
Bienvenido a una comunidad creativa más segura y profesional.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3" name="Shape 0"/>
          <p:cNvSpPr/>
          <p:nvPr/>
        </p:nvSpPr>
        <p:spPr>
          <a:xfrm>
            <a:off x="0" y="0"/>
            <a:ext cx="164592" cy="5143500"/>
          </a:xfrm>
          <a:prstGeom prst="rect">
            <a:avLst/>
          </a:prstGeom>
          <a:solidFill>
            <a:srgbClr val="0D7377"/>
          </a:solidFill>
          <a:ln w="12700">
            <a:solidFill>
              <a:srgbClr val="0D7377"/>
            </a:solidFill>
            <a:prstDash val="solid"/>
          </a:ln>
        </p:spPr>
      </p:sp>
      <p:sp>
        <p:nvSpPr>
          <p:cNvPr id="4" name="Shape 1"/>
          <p:cNvSpPr/>
          <p:nvPr/>
        </p:nvSpPr>
        <p:spPr>
          <a:xfrm>
            <a:off x="0" y="4572000"/>
            <a:ext cx="9144000" cy="571500"/>
          </a:xfrm>
          <a:prstGeom prst="rect">
            <a:avLst/>
          </a:prstGeom>
          <a:solidFill>
            <a:srgbClr val="0D7377"/>
          </a:solidFill>
          <a:ln w="12700">
            <a:solidFill>
              <a:srgbClr val="0D7377"/>
            </a:solidFill>
            <a:prstDash val="solid"/>
          </a:ln>
        </p:spPr>
      </p:sp>
      <p:pic>
        <p:nvPicPr>
          <p:cNvPr id="5" name="Image 0" descr="preencoded.png">    </p:cNvPr>
          <p:cNvPicPr>
            <a:picLocks noChangeAspect="1"/>
          </p:cNvPicPr>
          <p:nvPr/>
        </p:nvPicPr>
        <p:blipFill>
          <a:blip r:embed="rId1"/>
          <a:stretch>
            <a:fillRect/>
          </a:stretch>
        </p:blipFill>
        <p:spPr>
          <a:xfrm>
            <a:off x="7132320" y="548640"/>
            <a:ext cx="1463040" cy="1463040"/>
          </a:xfrm>
          <a:prstGeom prst="rect">
            <a:avLst/>
          </a:prstGeom>
        </p:spPr>
      </p:pic>
      <p:sp>
        <p:nvSpPr>
          <p:cNvPr id="6" name="Text 2"/>
          <p:cNvSpPr/>
          <p:nvPr/>
        </p:nvSpPr>
        <p:spPr>
          <a:xfrm>
            <a:off x="457200" y="1097280"/>
            <a:ext cx="6400800" cy="822960"/>
          </a:xfrm>
          <a:prstGeom prst="rect">
            <a:avLst/>
          </a:prstGeom>
          <a:noFill/>
          <a:ln/>
        </p:spPr>
        <p:txBody>
          <a:bodyPr wrap="square" lIns="0" tIns="0" rIns="0" bIns="0" rtlCol="0" anchor="ctr"/>
          <a:lstStyle/>
          <a:p>
            <a:pPr indent="0" marL="0">
              <a:buNone/>
            </a:pPr>
            <a:r>
              <a:rPr lang="en-US" sz="4000" b="1" spc="400" kern="0" dirty="0">
                <a:solidFill>
                  <a:srgbClr val="FFFFFF"/>
                </a:solidFill>
                <a:latin typeface="Arial Black" pitchFamily="34" charset="0"/>
                <a:ea typeface="Arial Black" pitchFamily="34" charset="-122"/>
                <a:cs typeface="Arial Black" pitchFamily="34" charset="-120"/>
              </a:rPr>
              <a:t>ESTÁNDARES DE SET SEGURO</a:t>
            </a:r>
            <a:endParaRPr lang="en-US" sz="4000" dirty="0"/>
          </a:p>
        </p:txBody>
      </p:sp>
      <p:sp>
        <p:nvSpPr>
          <p:cNvPr id="7" name="Text 3"/>
          <p:cNvSpPr/>
          <p:nvPr/>
        </p:nvSpPr>
        <p:spPr>
          <a:xfrm>
            <a:off x="457200" y="1965960"/>
            <a:ext cx="6400800" cy="457200"/>
          </a:xfrm>
          <a:prstGeom prst="rect">
            <a:avLst/>
          </a:prstGeom>
          <a:noFill/>
          <a:ln/>
        </p:spPr>
        <p:txBody>
          <a:bodyPr wrap="square" lIns="0" tIns="0" rIns="0" bIns="0" rtlCol="0" anchor="ctr"/>
          <a:lstStyle/>
          <a:p>
            <a:pPr indent="0" marL="0">
              <a:buNone/>
            </a:pPr>
            <a:r>
              <a:rPr lang="en-US" sz="2200" dirty="0">
                <a:solidFill>
                  <a:srgbClr val="14FFEC"/>
                </a:solidFill>
                <a:latin typeface="Calibri" pitchFamily="34" charset="0"/>
                <a:ea typeface="Calibri" pitchFamily="34" charset="-122"/>
                <a:cs typeface="Calibri" pitchFamily="34" charset="-120"/>
              </a:rPr>
              <a:t>Comunidad TFP — Área de la Bahía</a:t>
            </a:r>
            <a:endParaRPr lang="en-US" sz="2200" dirty="0"/>
          </a:p>
        </p:txBody>
      </p:sp>
      <p:sp>
        <p:nvSpPr>
          <p:cNvPr id="8" name="Text 4"/>
          <p:cNvSpPr/>
          <p:nvPr/>
        </p:nvSpPr>
        <p:spPr>
          <a:xfrm>
            <a:off x="457200" y="2606040"/>
            <a:ext cx="6858000" cy="822960"/>
          </a:xfrm>
          <a:prstGeom prst="rect">
            <a:avLst/>
          </a:prstGeom>
          <a:noFill/>
          <a:ln/>
        </p:spPr>
        <p:txBody>
          <a:bodyPr wrap="square" lIns="0" tIns="0" rIns="0" bIns="0" rtlCol="0" anchor="ctr"/>
          <a:lstStyle/>
          <a:p>
            <a:pPr indent="0" marL="0">
              <a:buNone/>
            </a:pPr>
            <a:r>
              <a:rPr lang="en-US" sz="1500" dirty="0">
                <a:solidFill>
                  <a:srgbClr val="AABDCE"/>
                </a:solidFill>
                <a:latin typeface="Calibri" pitchFamily="34" charset="0"/>
                <a:ea typeface="Calibri" pitchFamily="34" charset="-122"/>
                <a:cs typeface="Calibri" pitchFamily="34" charset="-120"/>
              </a:rPr>
              <a:t>Un estándar profesional compartido para fotógrafos,</a:t>
            </a:r>
            <a:endParaRPr lang="en-US" sz="1500" dirty="0"/>
          </a:p>
          <a:p>
            <a:pPr indent="0" marL="0">
              <a:buNone/>
            </a:pPr>
            <a:r>
              <a:rPr lang="en-US" sz="1500" dirty="0">
                <a:solidFill>
                  <a:srgbClr val="AABDCE"/>
                </a:solidFill>
                <a:latin typeface="Calibri" pitchFamily="34" charset="0"/>
                <a:ea typeface="Calibri" pitchFamily="34" charset="-122"/>
                <a:cs typeface="Calibri" pitchFamily="34" charset="-120"/>
              </a:rPr>
              <a:t>modelos y todos en el set.</a:t>
            </a:r>
            <a:endParaRPr lang="en-US" sz="1500" dirty="0"/>
          </a:p>
        </p:txBody>
      </p:sp>
      <p:sp>
        <p:nvSpPr>
          <p:cNvPr id="9" name="Text 5"/>
          <p:cNvSpPr/>
          <p:nvPr/>
        </p:nvSpPr>
        <p:spPr>
          <a:xfrm>
            <a:off x="274320" y="4663440"/>
            <a:ext cx="859536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Modelos y Fotógrafos Área de la Bahía de SF  •  TFP, Colaboración, Gratis, Pagado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7377"/>
        </a:solidFill>
      </p:bgPr>
    </p:bg>
    <p:spTree>
      <p:nvGrpSpPr>
        <p:cNvPr id="1" name=""/>
        <p:cNvGrpSpPr/>
        <p:nvPr/>
      </p:nvGrpSpPr>
      <p:grpSpPr>
        <a:xfrm>
          <a:off x="0" y="0"/>
          <a:ext cx="0" cy="0"/>
          <a:chOff x="0" y="0"/>
          <a:chExt cx="0" cy="0"/>
        </a:xfrm>
      </p:grpSpPr>
      <p:sp>
        <p:nvSpPr>
          <p:cNvPr id="3" name="Text 0"/>
          <p:cNvSpPr/>
          <p:nvPr/>
        </p:nvSpPr>
        <p:spPr>
          <a:xfrm>
            <a:off x="365760" y="274320"/>
            <a:ext cx="1828800" cy="1097280"/>
          </a:xfrm>
          <a:prstGeom prst="rect">
            <a:avLst/>
          </a:prstGeom>
          <a:noFill/>
          <a:ln/>
        </p:spPr>
        <p:txBody>
          <a:bodyPr wrap="square" lIns="0" tIns="0" rIns="0" bIns="0" rtlCol="0" anchor="ctr"/>
          <a:lstStyle/>
          <a:p>
            <a:pPr indent="0" marL="0">
              <a:buNone/>
            </a:pPr>
            <a:r>
              <a:rPr lang="en-US" sz="8000" b="1" dirty="0">
                <a:solidFill>
                  <a:srgbClr val="FFFFFF">
                    <a:alpha val="30000"/>
                  </a:srgbClr>
                </a:solidFill>
                <a:latin typeface="Arial Black" pitchFamily="34" charset="0"/>
                <a:ea typeface="Arial Black" pitchFamily="34" charset="-122"/>
                <a:cs typeface="Arial Black" pitchFamily="34" charset="-120"/>
              </a:rPr>
              <a:t>01</a:t>
            </a:r>
            <a:endParaRPr lang="en-US" sz="8000" dirty="0"/>
          </a:p>
        </p:txBody>
      </p:sp>
      <p:sp>
        <p:nvSpPr>
          <p:cNvPr id="4" name="Text 1"/>
          <p:cNvSpPr/>
          <p:nvPr/>
        </p:nvSpPr>
        <p:spPr>
          <a:xfrm>
            <a:off x="365760" y="1280160"/>
            <a:ext cx="8229600" cy="640080"/>
          </a:xfrm>
          <a:prstGeom prst="rect">
            <a:avLst/>
          </a:prstGeom>
          <a:noFill/>
          <a:ln/>
        </p:spPr>
        <p:txBody>
          <a:bodyPr wrap="square" lIns="0" tIns="0" rIns="0" bIns="0" rtlCol="0" anchor="ctr"/>
          <a:lstStyle/>
          <a:p>
            <a:pPr indent="0" marL="0">
              <a:buNone/>
            </a:pPr>
            <a:r>
              <a:rPr lang="en-US" sz="3600" b="1" spc="600" kern="0" dirty="0">
                <a:solidFill>
                  <a:srgbClr val="FFFFFF"/>
                </a:solidFill>
                <a:latin typeface="Arial Black" pitchFamily="34" charset="0"/>
                <a:ea typeface="Arial Black" pitchFamily="34" charset="-122"/>
                <a:cs typeface="Arial Black" pitchFamily="34" charset="-120"/>
              </a:rPr>
              <a:t>INTRODUCCIÓN</a:t>
            </a:r>
            <a:endParaRPr lang="en-US" sz="3600" dirty="0"/>
          </a:p>
        </p:txBody>
      </p:sp>
      <p:sp>
        <p:nvSpPr>
          <p:cNvPr id="5" name="Text 2"/>
          <p:cNvSpPr/>
          <p:nvPr/>
        </p:nvSpPr>
        <p:spPr>
          <a:xfrm>
            <a:off x="365760" y="2011680"/>
            <a:ext cx="8229600" cy="457200"/>
          </a:xfrm>
          <a:prstGeom prst="rect">
            <a:avLst/>
          </a:prstGeom>
          <a:noFill/>
          <a:ln/>
        </p:spPr>
        <p:txBody>
          <a:bodyPr wrap="square" lIns="0" tIns="0" rIns="0" bIns="0" rtlCol="0" anchor="ctr"/>
          <a:lstStyle/>
          <a:p>
            <a:pPr indent="0" marL="0">
              <a:buNone/>
            </a:pPr>
            <a:r>
              <a:rPr lang="en-US" sz="1800" dirty="0">
                <a:solidFill>
                  <a:srgbClr val="D0F0ED"/>
                </a:solidFill>
                <a:latin typeface="Calibri" pitchFamily="34" charset="0"/>
                <a:ea typeface="Calibri" pitchFamily="34" charset="-122"/>
                <a:cs typeface="Calibri" pitchFamily="34" charset="-120"/>
              </a:rPr>
              <a:t>Qué es esto — y por qué importa.</a:t>
            </a:r>
            <a:endParaRPr lang="en-US" sz="1800" dirty="0"/>
          </a:p>
        </p:txBody>
      </p:sp>
      <p:sp>
        <p:nvSpPr>
          <p:cNvPr id="6" name="Shape 3"/>
          <p:cNvSpPr/>
          <p:nvPr/>
        </p:nvSpPr>
        <p:spPr>
          <a:xfrm>
            <a:off x="0" y="4572000"/>
            <a:ext cx="9144000" cy="571500"/>
          </a:xfrm>
          <a:prstGeom prst="rect">
            <a:avLst/>
          </a:prstGeom>
          <a:solidFill>
            <a:srgbClr val="1B2A4A"/>
          </a:solidFill>
          <a:ln w="12700">
            <a:solidFill>
              <a:srgbClr val="1B2A4A"/>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3" name="Shape 0"/>
          <p:cNvSpPr/>
          <p:nvPr/>
        </p:nvSpPr>
        <p:spPr>
          <a:xfrm>
            <a:off x="0" y="0"/>
            <a:ext cx="9144000" cy="640080"/>
          </a:xfrm>
          <a:prstGeom prst="rect">
            <a:avLst/>
          </a:prstGeom>
          <a:solidFill>
            <a:srgbClr val="1B2A4A"/>
          </a:solidFill>
          <a:ln w="12700">
            <a:solidFill>
              <a:srgbClr val="1B2A4A"/>
            </a:solidFill>
            <a:prstDash val="solid"/>
          </a:ln>
        </p:spPr>
      </p:sp>
      <p:sp>
        <p:nvSpPr>
          <p:cNvPr id="4" name="Text 1"/>
          <p:cNvSpPr/>
          <p:nvPr/>
        </p:nvSpPr>
        <p:spPr>
          <a:xfrm>
            <a:off x="365760" y="91440"/>
            <a:ext cx="4572000" cy="457200"/>
          </a:xfrm>
          <a:prstGeom prst="rect">
            <a:avLst/>
          </a:prstGeom>
          <a:noFill/>
          <a:ln/>
        </p:spPr>
        <p:txBody>
          <a:bodyPr wrap="square" lIns="0" tIns="0" rIns="0" bIns="0" rtlCol="0" anchor="ctr"/>
          <a:lstStyle/>
          <a:p>
            <a:pPr indent="0" marL="0">
              <a:buNone/>
            </a:pPr>
            <a:r>
              <a:rPr lang="en-US" sz="1300" b="1" dirty="0">
                <a:solidFill>
                  <a:srgbClr val="14FFEC"/>
                </a:solidFill>
                <a:latin typeface="Calibri" pitchFamily="34" charset="0"/>
                <a:ea typeface="Calibri" pitchFamily="34" charset="-122"/>
                <a:cs typeface="Calibri" pitchFamily="34" charset="-120"/>
              </a:rPr>
              <a:t>INTRODUCCIÓN</a:t>
            </a:r>
            <a:endParaRPr lang="en-US" sz="1300" dirty="0"/>
          </a:p>
        </p:txBody>
      </p:sp>
      <p:sp>
        <p:nvSpPr>
          <p:cNvPr id="5" name="Text 2"/>
          <p:cNvSpPr/>
          <p:nvPr/>
        </p:nvSpPr>
        <p:spPr>
          <a:xfrm>
            <a:off x="365760" y="777240"/>
            <a:ext cx="8412480" cy="594360"/>
          </a:xfrm>
          <a:prstGeom prst="rect">
            <a:avLst/>
          </a:prstGeom>
          <a:noFill/>
          <a:ln/>
        </p:spPr>
        <p:txBody>
          <a:bodyPr wrap="square" lIns="0" tIns="0" rIns="0" bIns="0" rtlCol="0" anchor="ctr"/>
          <a:lstStyle/>
          <a:p>
            <a:pPr indent="0" marL="0">
              <a:buNone/>
            </a:pPr>
            <a:r>
              <a:rPr lang="en-US" sz="2800" b="1" dirty="0">
                <a:solidFill>
                  <a:srgbClr val="1B2A4A"/>
                </a:solidFill>
                <a:latin typeface="Arial Black" pitchFamily="34" charset="0"/>
                <a:ea typeface="Arial Black" pitchFamily="34" charset="-122"/>
                <a:cs typeface="Arial Black" pitchFamily="34" charset="-120"/>
              </a:rPr>
              <a:t>Qué es TFP — y Por Qué Existe Esto</a:t>
            </a:r>
            <a:endParaRPr lang="en-US" sz="2800" dirty="0"/>
          </a:p>
        </p:txBody>
      </p:sp>
      <p:sp>
        <p:nvSpPr>
          <p:cNvPr id="6" name="Text 3"/>
          <p:cNvSpPr/>
          <p:nvPr/>
        </p:nvSpPr>
        <p:spPr>
          <a:xfrm>
            <a:off x="365760" y="1508760"/>
            <a:ext cx="4937760" cy="100584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Trade for Print (TFP) </a:t>
            </a:r>
            <a:pPr indent="0" marL="0">
              <a:buNone/>
            </a:pPr>
            <a:r>
              <a:rPr lang="en-US" sz="1400" dirty="0">
                <a:solidFill>
                  <a:srgbClr val="111827"/>
                </a:solidFill>
                <a:latin typeface="Calibri" pitchFamily="34" charset="0"/>
                <a:ea typeface="Calibri" pitchFamily="34" charset="-122"/>
                <a:cs typeface="Calibri" pitchFamily="34" charset="-120"/>
              </a:rPr>
              <a:t>is a long-standing tradition where photographers and models collaborate — photographers build portfolios, models get professional images.</a:t>
            </a:r>
            <a:endParaRPr lang="en-US" sz="1400" dirty="0"/>
          </a:p>
        </p:txBody>
      </p:sp>
      <p:sp>
        <p:nvSpPr>
          <p:cNvPr id="7" name="Text 4"/>
          <p:cNvSpPr/>
          <p:nvPr/>
        </p:nvSpPr>
        <p:spPr>
          <a:xfrm>
            <a:off x="365760" y="2651760"/>
            <a:ext cx="4937760" cy="1280160"/>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En su mejor forma, es un intercambio genuinamente creativo. Pero cuando personas desconocidas se reúnen en un espacio creativo y físico, funciona mejor cuando todos llegan con las mismas expectativas.</a:t>
            </a:r>
            <a:endParaRPr lang="en-US" sz="1400" dirty="0"/>
          </a:p>
          <a:p>
            <a:pPr indent="0" marL="0">
              <a:buNone/>
            </a:pPr>
            <a:endParaRPr lang="en-US" sz="1400" dirty="0"/>
          </a:p>
          <a:p>
            <a:pPr indent="0" marL="0">
              <a:buNone/>
            </a:pPr>
            <a:r>
              <a:rPr lang="en-US" sz="1400" dirty="0">
                <a:solidFill>
                  <a:srgbClr val="111827"/>
                </a:solidFill>
                <a:latin typeface="Calibri" pitchFamily="34" charset="0"/>
                <a:ea typeface="Calibri" pitchFamily="34" charset="-122"/>
                <a:cs typeface="Calibri" pitchFamily="34" charset="-120"/>
              </a:rPr>
              <a:t>Eso es lo que esto es.</a:t>
            </a:r>
            <a:endParaRPr lang="en-US" sz="1400" dirty="0"/>
          </a:p>
        </p:txBody>
      </p:sp>
      <p:sp>
        <p:nvSpPr>
          <p:cNvPr id="8" name="Shape 5"/>
          <p:cNvSpPr/>
          <p:nvPr/>
        </p:nvSpPr>
        <p:spPr>
          <a:xfrm>
            <a:off x="5760720" y="1371600"/>
            <a:ext cx="3017520" cy="265176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9" name="Image 0" descr="preencoded.png">    </p:cNvPr>
          <p:cNvPicPr>
            <a:picLocks noChangeAspect="1"/>
          </p:cNvPicPr>
          <p:nvPr/>
        </p:nvPicPr>
        <p:blipFill>
          <a:blip r:embed="rId1"/>
          <a:stretch>
            <a:fillRect/>
          </a:stretch>
        </p:blipFill>
        <p:spPr>
          <a:xfrm>
            <a:off x="6858000" y="1600200"/>
            <a:ext cx="822960" cy="822960"/>
          </a:xfrm>
          <a:prstGeom prst="rect">
            <a:avLst/>
          </a:prstGeom>
        </p:spPr>
      </p:pic>
      <p:sp>
        <p:nvSpPr>
          <p:cNvPr id="10" name="Text 6"/>
          <p:cNvSpPr/>
          <p:nvPr/>
        </p:nvSpPr>
        <p:spPr>
          <a:xfrm>
            <a:off x="5943600" y="2514600"/>
            <a:ext cx="26517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Esto NO se trata</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de desconfianza.</a:t>
            </a:r>
            <a:endParaRPr lang="en-US" sz="1600" dirty="0"/>
          </a:p>
        </p:txBody>
      </p:sp>
      <p:sp>
        <p:nvSpPr>
          <p:cNvPr id="11" name="Text 7"/>
          <p:cNvSpPr/>
          <p:nvPr/>
        </p:nvSpPr>
        <p:spPr>
          <a:xfrm>
            <a:off x="5943600" y="3154680"/>
            <a:ext cx="2651760" cy="640080"/>
          </a:xfrm>
          <a:prstGeom prst="rect">
            <a:avLst/>
          </a:prstGeom>
          <a:noFill/>
          <a:ln/>
        </p:spPr>
        <p:txBody>
          <a:bodyPr wrap="square" lIns="0" tIns="0" rIns="0" bIns="0" rtlCol="0" anchor="ctr"/>
          <a:lstStyle/>
          <a:p>
            <a:pPr algn="ctr" indent="0" marL="0">
              <a:buNone/>
            </a:pPr>
            <a:r>
              <a:rPr lang="en-US" sz="1300" dirty="0">
                <a:solidFill>
                  <a:srgbClr val="AABDCE"/>
                </a:solidFill>
                <a:latin typeface="Calibri" pitchFamily="34" charset="0"/>
                <a:ea typeface="Calibri" pitchFamily="34" charset="-122"/>
                <a:cs typeface="Calibri" pitchFamily="34" charset="-120"/>
              </a:rPr>
              <a:t>Se trata de una base</a:t>
            </a:r>
            <a:endParaRPr lang="en-US" sz="1300" dirty="0"/>
          </a:p>
          <a:p>
            <a:pPr algn="ctr" indent="0" marL="0">
              <a:buNone/>
            </a:pPr>
            <a:r>
              <a:rPr lang="en-US" sz="1300" dirty="0">
                <a:solidFill>
                  <a:srgbClr val="AABDCE"/>
                </a:solidFill>
                <a:latin typeface="Calibri" pitchFamily="34" charset="0"/>
                <a:ea typeface="Calibri" pitchFamily="34" charset="-122"/>
                <a:cs typeface="Calibri" pitchFamily="34" charset="-120"/>
              </a:rPr>
              <a:t>profesional compartida.</a:t>
            </a:r>
            <a:endParaRPr lang="en-US" sz="1300" dirty="0"/>
          </a:p>
        </p:txBody>
      </p:sp>
      <p:sp>
        <p:nvSpPr>
          <p:cNvPr id="12" name="Shape 8"/>
          <p:cNvSpPr/>
          <p:nvPr/>
        </p:nvSpPr>
        <p:spPr>
          <a:xfrm>
            <a:off x="0" y="4663440"/>
            <a:ext cx="9144000" cy="480060"/>
          </a:xfrm>
          <a:prstGeom prst="rect">
            <a:avLst/>
          </a:prstGeom>
          <a:solidFill>
            <a:srgbClr val="1B2A4A"/>
          </a:solidFill>
          <a:ln w="12700">
            <a:solidFill>
              <a:srgbClr val="1B2A4A"/>
            </a:solidFill>
            <a:prstDash val="solid"/>
          </a:ln>
        </p:spPr>
      </p:sp>
      <p:sp>
        <p:nvSpPr>
          <p:cNvPr id="13" name="Text 9"/>
          <p:cNvSpPr/>
          <p:nvPr/>
        </p:nvSpPr>
        <p:spPr>
          <a:xfrm>
            <a:off x="0" y="4736592"/>
            <a:ext cx="9144000" cy="320040"/>
          </a:xfrm>
          <a:prstGeom prst="rect">
            <a:avLst/>
          </a:prstGeom>
          <a:noFill/>
          <a:ln/>
        </p:spPr>
        <p:txBody>
          <a:bodyPr wrap="square" lIns="0" tIns="0" rIns="0" bIns="0" rtlCol="0" anchor="ctr"/>
          <a:lstStyle/>
          <a:p>
            <a:pPr algn="ctr" indent="0" marL="0">
              <a:buNone/>
            </a:pPr>
            <a:r>
              <a:rPr lang="en-US" sz="1000" dirty="0">
                <a:solidFill>
                  <a:srgbClr val="8C9BAB"/>
                </a:solidFill>
                <a:latin typeface="Calibri" pitchFamily="34" charset="0"/>
                <a:ea typeface="Calibri" pitchFamily="34" charset="-122"/>
                <a:cs typeface="Calibri" pitchFamily="34" charset="-120"/>
              </a:rPr>
              <a:t>Safe Set Standards  •  Comunidad TFP — Área de la Bahía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p:bgPr>
    </p:bg>
    <p:spTree>
      <p:nvGrpSpPr>
        <p:cNvPr id="1" name=""/>
        <p:cNvGrpSpPr/>
        <p:nvPr/>
      </p:nvGrpSpPr>
      <p:grpSpPr>
        <a:xfrm>
          <a:off x="0" y="0"/>
          <a:ext cx="0" cy="0"/>
          <a:chOff x="0" y="0"/>
          <a:chExt cx="0" cy="0"/>
        </a:xfrm>
      </p:grpSpPr>
      <p:sp>
        <p:nvSpPr>
          <p:cNvPr id="3" name="Text 0"/>
          <p:cNvSpPr/>
          <p:nvPr/>
        </p:nvSpPr>
        <p:spPr>
          <a:xfrm>
            <a:off x="365760" y="274320"/>
            <a:ext cx="1828800" cy="1097280"/>
          </a:xfrm>
          <a:prstGeom prst="rect">
            <a:avLst/>
          </a:prstGeom>
          <a:noFill/>
          <a:ln/>
        </p:spPr>
        <p:txBody>
          <a:bodyPr wrap="square" lIns="0" tIns="0" rIns="0" bIns="0" rtlCol="0" anchor="ctr"/>
          <a:lstStyle/>
          <a:p>
            <a:pPr indent="0" marL="0">
              <a:buNone/>
            </a:pPr>
            <a:r>
              <a:rPr lang="en-US" sz="8000" b="1" dirty="0">
                <a:solidFill>
                  <a:srgbClr val="FFFFFF">
                    <a:alpha val="30000"/>
                  </a:srgbClr>
                </a:solidFill>
                <a:latin typeface="Arial Black" pitchFamily="34" charset="0"/>
                <a:ea typeface="Arial Black" pitchFamily="34" charset="-122"/>
                <a:cs typeface="Arial Black" pitchFamily="34" charset="-120"/>
              </a:rPr>
              <a:t>02</a:t>
            </a:r>
            <a:endParaRPr lang="en-US" sz="8000" dirty="0"/>
          </a:p>
        </p:txBody>
      </p:sp>
      <p:sp>
        <p:nvSpPr>
          <p:cNvPr id="4" name="Text 1"/>
          <p:cNvSpPr/>
          <p:nvPr/>
        </p:nvSpPr>
        <p:spPr>
          <a:xfrm>
            <a:off x="365760" y="1280160"/>
            <a:ext cx="8229600" cy="1280160"/>
          </a:xfrm>
          <a:prstGeom prst="rect">
            <a:avLst/>
          </a:prstGeom>
          <a:noFill/>
          <a:ln/>
        </p:spPr>
        <p:txBody>
          <a:bodyPr wrap="square" lIns="0" tIns="0" rIns="0" bIns="0" rtlCol="0" anchor="ctr"/>
          <a:lstStyle/>
          <a:p>
            <a:pPr indent="0" marL="0">
              <a:buNone/>
            </a:pPr>
            <a:r>
              <a:rPr lang="en-US" sz="3600" b="1" spc="400" kern="0" dirty="0">
                <a:solidFill>
                  <a:srgbClr val="FFFFFF"/>
                </a:solidFill>
                <a:latin typeface="Arial Black" pitchFamily="34" charset="0"/>
                <a:ea typeface="Arial Black" pitchFamily="34" charset="-122"/>
                <a:cs typeface="Arial Black" pitchFamily="34" charset="-120"/>
              </a:rPr>
              <a:t>ESTÁNDARES PARA</a:t>
            </a:r>
            <a:endParaRPr lang="en-US" sz="3600" dirty="0"/>
          </a:p>
          <a:p>
            <a:pPr indent="0" marL="0">
              <a:buNone/>
            </a:pPr>
            <a:r>
              <a:rPr lang="en-US" sz="3600" b="1" spc="400" kern="0" dirty="0">
                <a:solidFill>
                  <a:srgbClr val="FFFFFF"/>
                </a:solidFill>
                <a:latin typeface="Arial Black" pitchFamily="34" charset="0"/>
                <a:ea typeface="Arial Black" pitchFamily="34" charset="-122"/>
                <a:cs typeface="Arial Black" pitchFamily="34" charset="-120"/>
              </a:rPr>
              <a:t>FOTÓGRAFOS</a:t>
            </a:r>
            <a:endParaRPr lang="en-US" sz="3600" dirty="0"/>
          </a:p>
        </p:txBody>
      </p:sp>
      <p:sp>
        <p:nvSpPr>
          <p:cNvPr id="5" name="Text 2"/>
          <p:cNvSpPr/>
          <p:nvPr/>
        </p:nvSpPr>
        <p:spPr>
          <a:xfrm>
            <a:off x="365760" y="2697480"/>
            <a:ext cx="8229600" cy="457200"/>
          </a:xfrm>
          <a:prstGeom prst="rect">
            <a:avLst/>
          </a:prstGeom>
          <a:noFill/>
          <a:ln/>
        </p:spPr>
        <p:txBody>
          <a:bodyPr wrap="square" lIns="0" tIns="0" rIns="0" bIns="0" rtlCol="0" anchor="ctr"/>
          <a:lstStyle/>
          <a:p>
            <a:pPr indent="0" marL="0">
              <a:buNone/>
            </a:pPr>
            <a:r>
              <a:rPr lang="en-US" sz="1800" dirty="0">
                <a:solidFill>
                  <a:srgbClr val="AABDCE"/>
                </a:solidFill>
                <a:latin typeface="Calibri" pitchFamily="34" charset="0"/>
                <a:ea typeface="Calibri" pitchFamily="34" charset="-122"/>
                <a:cs typeface="Calibri" pitchFamily="34" charset="-120"/>
              </a:rPr>
              <a:t>Tu rol, tu responsabilidad.</a:t>
            </a:r>
            <a:endParaRPr lang="en-US" sz="1800" dirty="0"/>
          </a:p>
        </p:txBody>
      </p:sp>
      <p:sp>
        <p:nvSpPr>
          <p:cNvPr id="6" name="Shape 3"/>
          <p:cNvSpPr/>
          <p:nvPr/>
        </p:nvSpPr>
        <p:spPr>
          <a:xfrm>
            <a:off x="0" y="4572000"/>
            <a:ext cx="9144000" cy="571500"/>
          </a:xfrm>
          <a:prstGeom prst="rect">
            <a:avLst/>
          </a:prstGeom>
          <a:solidFill>
            <a:srgbClr val="0D7377"/>
          </a:solidFill>
          <a:ln w="12700">
            <a:solidFill>
              <a:srgbClr val="0D7377"/>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3" name="Shape 0"/>
          <p:cNvSpPr/>
          <p:nvPr/>
        </p:nvSpPr>
        <p:spPr>
          <a:xfrm>
            <a:off x="0" y="0"/>
            <a:ext cx="9144000" cy="640080"/>
          </a:xfrm>
          <a:prstGeom prst="rect">
            <a:avLst/>
          </a:prstGeom>
          <a:solidFill>
            <a:srgbClr val="1B2A4A"/>
          </a:solidFill>
          <a:ln w="12700">
            <a:solidFill>
              <a:srgbClr val="1B2A4A"/>
            </a:solidFill>
            <a:prstDash val="solid"/>
          </a:ln>
        </p:spPr>
      </p:sp>
      <p:sp>
        <p:nvSpPr>
          <p:cNvPr id="4" name="Text 1"/>
          <p:cNvSpPr/>
          <p:nvPr/>
        </p:nvSpPr>
        <p:spPr>
          <a:xfrm>
            <a:off x="365760" y="91440"/>
            <a:ext cx="5486400" cy="457200"/>
          </a:xfrm>
          <a:prstGeom prst="rect">
            <a:avLst/>
          </a:prstGeom>
          <a:noFill/>
          <a:ln/>
        </p:spPr>
        <p:txBody>
          <a:bodyPr wrap="square" lIns="0" tIns="0" rIns="0" bIns="0" rtlCol="0" anchor="ctr"/>
          <a:lstStyle/>
          <a:p>
            <a:pPr indent="0" marL="0">
              <a:buNone/>
            </a:pPr>
            <a:r>
              <a:rPr lang="en-US" sz="1300" b="1" dirty="0">
                <a:solidFill>
                  <a:srgbClr val="14FFEC"/>
                </a:solidFill>
                <a:latin typeface="Calibri" pitchFamily="34" charset="0"/>
                <a:ea typeface="Calibri" pitchFamily="34" charset="-122"/>
                <a:cs typeface="Calibri" pitchFamily="34" charset="-120"/>
              </a:rPr>
              <a:t>ESTÁNDARES PARA FOTÓGRAFOS</a:t>
            </a:r>
            <a:endParaRPr lang="en-US" sz="1300" dirty="0"/>
          </a:p>
        </p:txBody>
      </p:sp>
      <p:sp>
        <p:nvSpPr>
          <p:cNvPr id="5" name="Text 2"/>
          <p:cNvSpPr/>
          <p:nvPr/>
        </p:nvSpPr>
        <p:spPr>
          <a:xfrm>
            <a:off x="365760" y="777240"/>
            <a:ext cx="8412480" cy="640080"/>
          </a:xfrm>
          <a:prstGeom prst="rect">
            <a:avLst/>
          </a:prstGeom>
          <a:noFill/>
          <a:ln/>
        </p:spPr>
        <p:txBody>
          <a:bodyPr wrap="square" lIns="0" tIns="0" rIns="0" bIns="0" rtlCol="0" anchor="ctr"/>
          <a:lstStyle/>
          <a:p>
            <a:pPr indent="0" marL="0">
              <a:buNone/>
            </a:pPr>
            <a:r>
              <a:rPr lang="en-US" sz="2600" b="1" dirty="0">
                <a:solidFill>
                  <a:srgbClr val="C0392B"/>
                </a:solidFill>
                <a:latin typeface="Arial Black" pitchFamily="34" charset="0"/>
                <a:ea typeface="Arial Black" pitchFamily="34" charset="-122"/>
                <a:cs typeface="Arial Black" pitchFamily="34" charset="-120"/>
              </a:rPr>
              <a:t>Regla #1: No Tocarás al Modelo. Jamás.</a:t>
            </a:r>
            <a:endParaRPr lang="en-US" sz="2600" dirty="0"/>
          </a:p>
        </p:txBody>
      </p:sp>
      <p:sp>
        <p:nvSpPr>
          <p:cNvPr id="6" name="Shape 3"/>
          <p:cNvSpPr/>
          <p:nvPr/>
        </p:nvSpPr>
        <p:spPr>
          <a:xfrm>
            <a:off x="320040" y="1600200"/>
            <a:ext cx="2697480" cy="256032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7" name="Image 0" descr="preencoded.png">    </p:cNvPr>
          <p:cNvPicPr>
            <a:picLocks noChangeAspect="1"/>
          </p:cNvPicPr>
          <p:nvPr/>
        </p:nvPicPr>
        <p:blipFill>
          <a:blip r:embed="rId1"/>
          <a:stretch>
            <a:fillRect/>
          </a:stretch>
        </p:blipFill>
        <p:spPr>
          <a:xfrm>
            <a:off x="1325880" y="1783080"/>
            <a:ext cx="685800" cy="685800"/>
          </a:xfrm>
          <a:prstGeom prst="rect">
            <a:avLst/>
          </a:prstGeom>
        </p:spPr>
      </p:pic>
      <p:sp>
        <p:nvSpPr>
          <p:cNvPr id="8" name="Text 4"/>
          <p:cNvSpPr/>
          <p:nvPr/>
        </p:nvSpPr>
        <p:spPr>
          <a:xfrm>
            <a:off x="411480" y="2560320"/>
            <a:ext cx="2514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Dirección Verbal</a:t>
            </a:r>
            <a:endParaRPr lang="en-US" sz="1400" dirty="0"/>
          </a:p>
        </p:txBody>
      </p:sp>
      <p:sp>
        <p:nvSpPr>
          <p:cNvPr id="9" name="Text 5"/>
          <p:cNvSpPr/>
          <p:nvPr/>
        </p:nvSpPr>
        <p:spPr>
          <a:xfrm>
            <a:off x="411480" y="3017520"/>
            <a:ext cx="2514600" cy="1005840"/>
          </a:xfrm>
          <a:prstGeom prst="rect">
            <a:avLst/>
          </a:prstGeom>
          <a:noFill/>
          <a:ln/>
        </p:spPr>
        <p:txBody>
          <a:bodyPr wrap="square" lIns="0" tIns="0" rIns="0" bIns="0" rtlCol="0" anchor="ctr"/>
          <a:lstStyle/>
          <a:p>
            <a:pPr algn="ctr" indent="0" marL="0">
              <a:buNone/>
            </a:pPr>
            <a:r>
              <a:rPr lang="en-US" sz="1200" dirty="0">
                <a:solidFill>
                  <a:srgbClr val="AABDCE"/>
                </a:solidFill>
                <a:latin typeface="Calibri" pitchFamily="34" charset="0"/>
                <a:ea typeface="Calibri" pitchFamily="34" charset="-122"/>
                <a:cs typeface="Calibri" pitchFamily="34" charset="-120"/>
              </a:rPr>
              <a:t>Describe la posición con claridad y profesionalismo. Sé específico sobre lo que necesitas.</a:t>
            </a:r>
            <a:endParaRPr lang="en-US" sz="1200" dirty="0"/>
          </a:p>
        </p:txBody>
      </p:sp>
      <p:sp>
        <p:nvSpPr>
          <p:cNvPr id="10" name="Shape 6"/>
          <p:cNvSpPr/>
          <p:nvPr/>
        </p:nvSpPr>
        <p:spPr>
          <a:xfrm>
            <a:off x="3200400" y="1600200"/>
            <a:ext cx="2697480" cy="256032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11" name="Image 1" descr="preencoded.png">    </p:cNvPr>
          <p:cNvPicPr>
            <a:picLocks noChangeAspect="1"/>
          </p:cNvPicPr>
          <p:nvPr/>
        </p:nvPicPr>
        <p:blipFill>
          <a:blip r:embed="rId2"/>
          <a:stretch>
            <a:fillRect/>
          </a:stretch>
        </p:blipFill>
        <p:spPr>
          <a:xfrm>
            <a:off x="4206240" y="1783080"/>
            <a:ext cx="685800" cy="685800"/>
          </a:xfrm>
          <a:prstGeom prst="rect">
            <a:avLst/>
          </a:prstGeom>
        </p:spPr>
      </p:pic>
      <p:sp>
        <p:nvSpPr>
          <p:cNvPr id="12" name="Text 7"/>
          <p:cNvSpPr/>
          <p:nvPr/>
        </p:nvSpPr>
        <p:spPr>
          <a:xfrm>
            <a:off x="3291840" y="2560320"/>
            <a:ext cx="2514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Demuéstralo Tú</a:t>
            </a:r>
            <a:endParaRPr lang="en-US" sz="1400" dirty="0"/>
          </a:p>
        </p:txBody>
      </p:sp>
      <p:sp>
        <p:nvSpPr>
          <p:cNvPr id="13" name="Text 8"/>
          <p:cNvSpPr/>
          <p:nvPr/>
        </p:nvSpPr>
        <p:spPr>
          <a:xfrm>
            <a:off x="3291840" y="3017520"/>
            <a:ext cx="2514600" cy="1005840"/>
          </a:xfrm>
          <a:prstGeom prst="rect">
            <a:avLst/>
          </a:prstGeom>
          <a:noFill/>
          <a:ln/>
        </p:spPr>
        <p:txBody>
          <a:bodyPr wrap="square" lIns="0" tIns="0" rIns="0" bIns="0" rtlCol="0" anchor="ctr"/>
          <a:lstStyle/>
          <a:p>
            <a:pPr algn="ctr" indent="0" marL="0">
              <a:buNone/>
            </a:pPr>
            <a:r>
              <a:rPr lang="en-US" sz="1200" dirty="0">
                <a:solidFill>
                  <a:srgbClr val="AABDCE"/>
                </a:solidFill>
                <a:latin typeface="Calibri" pitchFamily="34" charset="0"/>
                <a:ea typeface="Calibri" pitchFamily="34" charset="-122"/>
                <a:cs typeface="Calibri" pitchFamily="34" charset="-120"/>
              </a:rPr>
              <a:t>Muestra la pose tú mismo. Deja que el modelo te imite. Simple, efectivo, sin contacto.</a:t>
            </a:r>
            <a:endParaRPr lang="en-US" sz="1200" dirty="0"/>
          </a:p>
        </p:txBody>
      </p:sp>
      <p:sp>
        <p:nvSpPr>
          <p:cNvPr id="14" name="Shape 9"/>
          <p:cNvSpPr/>
          <p:nvPr/>
        </p:nvSpPr>
        <p:spPr>
          <a:xfrm>
            <a:off x="6080760" y="1600200"/>
            <a:ext cx="2697480" cy="256032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15" name="Image 2" descr="preencoded.png">    </p:cNvPr>
          <p:cNvPicPr>
            <a:picLocks noChangeAspect="1"/>
          </p:cNvPicPr>
          <p:nvPr/>
        </p:nvPicPr>
        <p:blipFill>
          <a:blip r:embed="rId3"/>
          <a:stretch>
            <a:fillRect/>
          </a:stretch>
        </p:blipFill>
        <p:spPr>
          <a:xfrm>
            <a:off x="7086600" y="1783080"/>
            <a:ext cx="685800" cy="685800"/>
          </a:xfrm>
          <a:prstGeom prst="rect">
            <a:avLst/>
          </a:prstGeom>
        </p:spPr>
      </p:pic>
      <p:sp>
        <p:nvSpPr>
          <p:cNvPr id="16" name="Text 10"/>
          <p:cNvSpPr/>
          <p:nvPr/>
        </p:nvSpPr>
        <p:spPr>
          <a:xfrm>
            <a:off x="6172200" y="2560320"/>
            <a:ext cx="2514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Delégalo</a:t>
            </a:r>
            <a:endParaRPr lang="en-US" sz="1400" dirty="0"/>
          </a:p>
        </p:txBody>
      </p:sp>
      <p:sp>
        <p:nvSpPr>
          <p:cNvPr id="17" name="Text 11"/>
          <p:cNvSpPr/>
          <p:nvPr/>
        </p:nvSpPr>
        <p:spPr>
          <a:xfrm>
            <a:off x="6172200" y="3017520"/>
            <a:ext cx="2514600" cy="1005840"/>
          </a:xfrm>
          <a:prstGeom prst="rect">
            <a:avLst/>
          </a:prstGeom>
          <a:noFill/>
          <a:ln/>
        </p:spPr>
        <p:txBody>
          <a:bodyPr wrap="square" lIns="0" tIns="0" rIns="0" bIns="0" rtlCol="0" anchor="ctr"/>
          <a:lstStyle/>
          <a:p>
            <a:pPr algn="ctr" indent="0" marL="0">
              <a:buNone/>
            </a:pPr>
            <a:r>
              <a:rPr lang="en-US" sz="1200" dirty="0">
                <a:solidFill>
                  <a:srgbClr val="AABDCE"/>
                </a:solidFill>
                <a:latin typeface="Calibri" pitchFamily="34" charset="0"/>
                <a:ea typeface="Calibri" pitchFamily="34" charset="-122"/>
                <a:cs typeface="Calibri" pitchFamily="34" charset="-120"/>
              </a:rPr>
              <a:t>Pide a un asistente del mismo sexo, o al padre/madre o acompañante del modelo que haga el ajuste.</a:t>
            </a:r>
            <a:endParaRPr lang="en-US" sz="1200" dirty="0"/>
          </a:p>
        </p:txBody>
      </p:sp>
      <p:sp>
        <p:nvSpPr>
          <p:cNvPr id="18" name="Text 12"/>
          <p:cNvSpPr/>
          <p:nvPr/>
        </p:nvSpPr>
        <p:spPr>
          <a:xfrm>
            <a:off x="365760" y="4251960"/>
            <a:ext cx="8412480" cy="347472"/>
          </a:xfrm>
          <a:prstGeom prst="rect">
            <a:avLst/>
          </a:prstGeom>
          <a:noFill/>
          <a:ln/>
        </p:spPr>
        <p:txBody>
          <a:bodyPr wrap="square" lIns="0" tIns="0" rIns="0" bIns="0" rtlCol="0" anchor="ctr"/>
          <a:lstStyle/>
          <a:p>
            <a:pPr indent="0" marL="0">
              <a:buNone/>
            </a:pPr>
            <a:r>
              <a:rPr lang="en-US" sz="1300" i="1" dirty="0">
                <a:solidFill>
                  <a:srgbClr val="0D7377"/>
                </a:solidFill>
                <a:latin typeface="Calibri" pitchFamily="34" charset="0"/>
                <a:ea typeface="Calibri" pitchFamily="34" charset="-122"/>
                <a:cs typeface="Calibri" pitchFamily="34" charset="-120"/>
              </a:rPr>
              <a:t>Esas son tus tres opciones. No hay una cuarta.</a:t>
            </a:r>
            <a:endParaRPr lang="en-US" sz="1300" dirty="0"/>
          </a:p>
        </p:txBody>
      </p:sp>
      <p:sp>
        <p:nvSpPr>
          <p:cNvPr id="19" name="Shape 13"/>
          <p:cNvSpPr/>
          <p:nvPr/>
        </p:nvSpPr>
        <p:spPr>
          <a:xfrm>
            <a:off x="0" y="4663440"/>
            <a:ext cx="9144000" cy="480060"/>
          </a:xfrm>
          <a:prstGeom prst="rect">
            <a:avLst/>
          </a:prstGeom>
          <a:solidFill>
            <a:srgbClr val="1B2A4A"/>
          </a:solidFill>
          <a:ln w="12700">
            <a:solidFill>
              <a:srgbClr val="1B2A4A"/>
            </a:solidFill>
            <a:prstDash val="solid"/>
          </a:ln>
        </p:spPr>
      </p:sp>
      <p:sp>
        <p:nvSpPr>
          <p:cNvPr id="20" name="Text 14"/>
          <p:cNvSpPr/>
          <p:nvPr/>
        </p:nvSpPr>
        <p:spPr>
          <a:xfrm>
            <a:off x="0" y="4736592"/>
            <a:ext cx="9144000" cy="320040"/>
          </a:xfrm>
          <a:prstGeom prst="rect">
            <a:avLst/>
          </a:prstGeom>
          <a:noFill/>
          <a:ln/>
        </p:spPr>
        <p:txBody>
          <a:bodyPr wrap="square" lIns="0" tIns="0" rIns="0" bIns="0" rtlCol="0" anchor="ctr"/>
          <a:lstStyle/>
          <a:p>
            <a:pPr algn="ctr" indent="0" marL="0">
              <a:buNone/>
            </a:pPr>
            <a:r>
              <a:rPr lang="en-US" sz="1000" dirty="0">
                <a:solidFill>
                  <a:srgbClr val="8C9BAB"/>
                </a:solidFill>
                <a:latin typeface="Calibri" pitchFamily="34" charset="0"/>
                <a:ea typeface="Calibri" pitchFamily="34" charset="-122"/>
                <a:cs typeface="Calibri" pitchFamily="34" charset="-120"/>
              </a:rPr>
              <a:t>Safe Set Standards  •  Comunidad TFP — Área de la Bahía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3" name="Shape 0"/>
          <p:cNvSpPr/>
          <p:nvPr/>
        </p:nvSpPr>
        <p:spPr>
          <a:xfrm>
            <a:off x="0" y="0"/>
            <a:ext cx="9144000" cy="640080"/>
          </a:xfrm>
          <a:prstGeom prst="rect">
            <a:avLst/>
          </a:prstGeom>
          <a:solidFill>
            <a:srgbClr val="1B2A4A"/>
          </a:solidFill>
          <a:ln w="12700">
            <a:solidFill>
              <a:srgbClr val="1B2A4A"/>
            </a:solidFill>
            <a:prstDash val="solid"/>
          </a:ln>
        </p:spPr>
      </p:sp>
      <p:sp>
        <p:nvSpPr>
          <p:cNvPr id="4" name="Text 1"/>
          <p:cNvSpPr/>
          <p:nvPr/>
        </p:nvSpPr>
        <p:spPr>
          <a:xfrm>
            <a:off x="365760" y="91440"/>
            <a:ext cx="5486400" cy="457200"/>
          </a:xfrm>
          <a:prstGeom prst="rect">
            <a:avLst/>
          </a:prstGeom>
          <a:noFill/>
          <a:ln/>
        </p:spPr>
        <p:txBody>
          <a:bodyPr wrap="square" lIns="0" tIns="0" rIns="0" bIns="0" rtlCol="0" anchor="ctr"/>
          <a:lstStyle/>
          <a:p>
            <a:pPr indent="0" marL="0">
              <a:buNone/>
            </a:pPr>
            <a:r>
              <a:rPr lang="en-US" sz="1300" b="1" dirty="0">
                <a:solidFill>
                  <a:srgbClr val="14FFEC"/>
                </a:solidFill>
                <a:latin typeface="Calibri" pitchFamily="34" charset="0"/>
                <a:ea typeface="Calibri" pitchFamily="34" charset="-122"/>
                <a:cs typeface="Calibri" pitchFamily="34" charset="-120"/>
              </a:rPr>
              <a:t>ESTÁNDARES PARA FOTÓGRAFOS</a:t>
            </a:r>
            <a:endParaRPr lang="en-US" sz="1300" dirty="0"/>
          </a:p>
        </p:txBody>
      </p:sp>
      <p:sp>
        <p:nvSpPr>
          <p:cNvPr id="5" name="Text 2"/>
          <p:cNvSpPr/>
          <p:nvPr/>
        </p:nvSpPr>
        <p:spPr>
          <a:xfrm>
            <a:off x="365760" y="777240"/>
            <a:ext cx="8412480" cy="594360"/>
          </a:xfrm>
          <a:prstGeom prst="rect">
            <a:avLst/>
          </a:prstGeom>
          <a:noFill/>
          <a:ln/>
        </p:spPr>
        <p:txBody>
          <a:bodyPr wrap="square" lIns="0" tIns="0" rIns="0" bIns="0" rtlCol="0" anchor="ctr"/>
          <a:lstStyle/>
          <a:p>
            <a:pPr indent="0" marL="0">
              <a:buNone/>
            </a:pPr>
            <a:r>
              <a:rPr lang="en-US" sz="2800" b="1" dirty="0">
                <a:solidFill>
                  <a:srgbClr val="1B2A4A"/>
                </a:solidFill>
                <a:latin typeface="Arial Black" pitchFamily="34" charset="0"/>
                <a:ea typeface="Arial Black" pitchFamily="34" charset="-122"/>
                <a:cs typeface="Arial Black" pitchFamily="34" charset="-120"/>
              </a:rPr>
              <a:t>Menores de Edad y Derechos de Imagen</a:t>
            </a:r>
            <a:endParaRPr lang="en-US" sz="2800" dirty="0"/>
          </a:p>
        </p:txBody>
      </p:sp>
      <p:sp>
        <p:nvSpPr>
          <p:cNvPr id="6" name="Shape 3"/>
          <p:cNvSpPr/>
          <p:nvPr/>
        </p:nvSpPr>
        <p:spPr>
          <a:xfrm>
            <a:off x="320040" y="1463040"/>
            <a:ext cx="4023360" cy="265176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7" name="Image 0" descr="preencoded.png">    </p:cNvPr>
          <p:cNvPicPr>
            <a:picLocks noChangeAspect="1"/>
          </p:cNvPicPr>
          <p:nvPr/>
        </p:nvPicPr>
        <p:blipFill>
          <a:blip r:embed="rId1"/>
          <a:stretch>
            <a:fillRect/>
          </a:stretch>
        </p:blipFill>
        <p:spPr>
          <a:xfrm>
            <a:off x="502920" y="1600200"/>
            <a:ext cx="594360" cy="594360"/>
          </a:xfrm>
          <a:prstGeom prst="rect">
            <a:avLst/>
          </a:prstGeom>
        </p:spPr>
      </p:pic>
      <p:sp>
        <p:nvSpPr>
          <p:cNvPr id="8" name="Text 4"/>
          <p:cNvSpPr/>
          <p:nvPr/>
        </p:nvSpPr>
        <p:spPr>
          <a:xfrm>
            <a:off x="1188720" y="1664208"/>
            <a:ext cx="2926080" cy="475488"/>
          </a:xfrm>
          <a:prstGeom prst="rect">
            <a:avLst/>
          </a:prstGeom>
          <a:noFill/>
          <a:ln/>
        </p:spPr>
        <p:txBody>
          <a:bodyPr wrap="square" lIns="0" tIns="0" rIns="0" bIns="0" rtlCol="0" anchor="ctr"/>
          <a:lstStyle/>
          <a:p>
            <a:pPr indent="0" marL="0">
              <a:buNone/>
            </a:pPr>
            <a:r>
              <a:rPr lang="en-US" sz="1500" b="1" dirty="0">
                <a:solidFill>
                  <a:srgbClr val="F4A261"/>
                </a:solidFill>
                <a:latin typeface="Calibri" pitchFamily="34" charset="0"/>
                <a:ea typeface="Calibri" pitchFamily="34" charset="-122"/>
                <a:cs typeface="Calibri" pitchFamily="34" charset="-120"/>
              </a:rPr>
              <a:t>Cuando Hay Menores de Edad</a:t>
            </a:r>
            <a:endParaRPr lang="en-US" sz="1500" dirty="0"/>
          </a:p>
        </p:txBody>
      </p:sp>
      <p:sp>
        <p:nvSpPr>
          <p:cNvPr id="9" name="Text 5"/>
          <p:cNvSpPr/>
          <p:nvPr/>
        </p:nvSpPr>
        <p:spPr>
          <a:xfrm>
            <a:off x="502920" y="2240280"/>
            <a:ext cx="3657600" cy="1737360"/>
          </a:xfrm>
          <a:prstGeom prst="rect">
            <a:avLst/>
          </a:prstGeom>
          <a:noFill/>
          <a:ln/>
        </p:spPr>
        <p:txBody>
          <a:bodyPr wrap="square" lIns="0" tIns="0" rIns="0" bIns="0" rtlCol="0" anchor="ctr"/>
          <a:lstStyle/>
          <a:p>
            <a:pPr marL="342900" indent="-342900">
              <a:buSzPct val="100000"/>
              <a:buChar char="•"/>
            </a:pPr>
            <a:r>
              <a:rPr lang="en-US" sz="1300" dirty="0">
                <a:solidFill>
                  <a:srgbClr val="AABDCE"/>
                </a:solidFill>
                <a:latin typeface="Calibri" pitchFamily="34" charset="0"/>
                <a:ea typeface="Calibri" pitchFamily="34" charset="-122"/>
                <a:cs typeface="Calibri" pitchFamily="34" charset="-120"/>
              </a:rPr>
              <a:t>Un padre, madre o tutor legal debe estar presente en el set — no cerca, no en el estacionamiento.</a:t>
            </a:r>
            <a:endParaRPr lang="en-US" sz="1300" dirty="0"/>
          </a:p>
          <a:p>
            <a:pPr marL="342900" indent="-342900">
              <a:buSzPct val="100000"/>
              <a:buChar char="•"/>
            </a:pPr>
            <a:r>
              <a:rPr lang="en-US" sz="1300" dirty="0">
                <a:solidFill>
                  <a:srgbClr val="AABDCE"/>
                </a:solidFill>
                <a:latin typeface="Calibri" pitchFamily="34" charset="0"/>
                <a:ea typeface="Calibri" pitchFamily="34" charset="-122"/>
                <a:cs typeface="Calibri" pitchFamily="34" charset="-120"/>
              </a:rPr>
              <a:t>Si el padre/madre se aleja, la sesión se pausa de inmediato.</a:t>
            </a:r>
            <a:endParaRPr lang="en-US" sz="1300" dirty="0"/>
          </a:p>
          <a:p>
            <a:pPr marL="342900" indent="-342900">
              <a:buSzPct val="100000"/>
              <a:buChar char="•"/>
            </a:pPr>
            <a:r>
              <a:rPr lang="en-US" sz="1300" dirty="0">
                <a:solidFill>
                  <a:srgbClr val="AABDCE"/>
                </a:solidFill>
                <a:latin typeface="Calibri" pitchFamily="34" charset="0"/>
                <a:ea typeface="Calibri" pitchFamily="34" charset="-122"/>
                <a:cs typeface="Calibri" pitchFamily="34" charset="-120"/>
              </a:rPr>
              <a:t>Nunca trabajas a solas con un menor. Sin excepciones.</a:t>
            </a:r>
            <a:endParaRPr lang="en-US" sz="1300" dirty="0"/>
          </a:p>
        </p:txBody>
      </p:sp>
      <p:sp>
        <p:nvSpPr>
          <p:cNvPr id="10" name="Shape 6"/>
          <p:cNvSpPr/>
          <p:nvPr/>
        </p:nvSpPr>
        <p:spPr>
          <a:xfrm>
            <a:off x="4800600" y="1463040"/>
            <a:ext cx="4023360" cy="265176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11" name="Image 1" descr="preencoded.png">    </p:cNvPr>
          <p:cNvPicPr>
            <a:picLocks noChangeAspect="1"/>
          </p:cNvPicPr>
          <p:nvPr/>
        </p:nvPicPr>
        <p:blipFill>
          <a:blip r:embed="rId2"/>
          <a:stretch>
            <a:fillRect/>
          </a:stretch>
        </p:blipFill>
        <p:spPr>
          <a:xfrm>
            <a:off x="4983480" y="1600200"/>
            <a:ext cx="594360" cy="594360"/>
          </a:xfrm>
          <a:prstGeom prst="rect">
            <a:avLst/>
          </a:prstGeom>
        </p:spPr>
      </p:pic>
      <p:sp>
        <p:nvSpPr>
          <p:cNvPr id="12" name="Text 7"/>
          <p:cNvSpPr/>
          <p:nvPr/>
        </p:nvSpPr>
        <p:spPr>
          <a:xfrm>
            <a:off x="5669280" y="1664208"/>
            <a:ext cx="3017520" cy="475488"/>
          </a:xfrm>
          <a:prstGeom prst="rect">
            <a:avLst/>
          </a:prstGeom>
          <a:noFill/>
          <a:ln/>
        </p:spPr>
        <p:txBody>
          <a:bodyPr wrap="square" lIns="0" tIns="0" rIns="0" bIns="0" rtlCol="0" anchor="ctr"/>
          <a:lstStyle/>
          <a:p>
            <a:pPr indent="0" marL="0">
              <a:buNone/>
            </a:pPr>
            <a:r>
              <a:rPr lang="en-US" sz="1500" b="1" dirty="0">
                <a:solidFill>
                  <a:srgbClr val="14FFEC"/>
                </a:solidFill>
                <a:latin typeface="Calibri" pitchFamily="34" charset="0"/>
                <a:ea typeface="Calibri" pitchFamily="34" charset="-122"/>
                <a:cs typeface="Calibri" pitchFamily="34" charset="-120"/>
              </a:rPr>
              <a:t>Distribución de Imágenes</a:t>
            </a:r>
            <a:endParaRPr lang="en-US" sz="1500" dirty="0"/>
          </a:p>
        </p:txBody>
      </p:sp>
      <p:sp>
        <p:nvSpPr>
          <p:cNvPr id="13" name="Text 8"/>
          <p:cNvSpPr/>
          <p:nvPr/>
        </p:nvSpPr>
        <p:spPr>
          <a:xfrm>
            <a:off x="4983480" y="2240280"/>
            <a:ext cx="3657600" cy="1737360"/>
          </a:xfrm>
          <a:prstGeom prst="rect">
            <a:avLst/>
          </a:prstGeom>
          <a:noFill/>
          <a:ln/>
        </p:spPr>
        <p:txBody>
          <a:bodyPr wrap="square" lIns="0" tIns="0" rIns="0" bIns="0" rtlCol="0" anchor="ctr"/>
          <a:lstStyle/>
          <a:p>
            <a:pPr marL="342900" indent="-342900">
              <a:buSzPct val="100000"/>
              <a:buChar char="•"/>
            </a:pPr>
            <a:r>
              <a:rPr lang="en-US" sz="1300" dirty="0">
                <a:solidFill>
                  <a:srgbClr val="AABDCE"/>
                </a:solidFill>
                <a:latin typeface="Calibri" pitchFamily="34" charset="0"/>
                <a:ea typeface="Calibri" pitchFamily="34" charset="-122"/>
                <a:cs typeface="Calibri" pitchFamily="34" charset="-120"/>
              </a:rPr>
              <a:t>No compartas, publiques ni distribuyas imágenes sin el acuerdo explícito del modelo.</a:t>
            </a:r>
            <a:endParaRPr lang="en-US" sz="1300" dirty="0"/>
          </a:p>
          <a:p>
            <a:pPr marL="342900" indent="-342900">
              <a:buSzPct val="100000"/>
              <a:buChar char="•"/>
            </a:pPr>
            <a:r>
              <a:rPr lang="en-US" sz="1300" dirty="0">
                <a:solidFill>
                  <a:srgbClr val="AABDCE"/>
                </a:solidFill>
                <a:latin typeface="Calibri" pitchFamily="34" charset="0"/>
                <a:ea typeface="Calibri" pitchFamily="34" charset="-122"/>
                <a:cs typeface="Calibri" pitchFamily="34" charset="-120"/>
              </a:rPr>
              <a:t>Para menores, se requiere consentimiento escrito del padre/madre antes de publicar cualquier imagen.</a:t>
            </a:r>
            <a:endParaRPr lang="en-US" sz="1300" dirty="0"/>
          </a:p>
          <a:p>
            <a:pPr marL="342900" indent="-342900">
              <a:buSzPct val="100000"/>
              <a:buChar char="•"/>
            </a:pPr>
            <a:r>
              <a:rPr lang="en-US" sz="1300" dirty="0">
                <a:solidFill>
                  <a:srgbClr val="AABDCE"/>
                </a:solidFill>
                <a:latin typeface="Calibri" pitchFamily="34" charset="0"/>
                <a:ea typeface="Calibri" pitchFamily="34" charset="-122"/>
                <a:cs typeface="Calibri" pitchFamily="34" charset="-120"/>
              </a:rPr>
              <a:t>La violación conlleva consecuencias legales — no solo la expulsión del grupo.</a:t>
            </a:r>
            <a:endParaRPr lang="en-US" sz="1300" dirty="0"/>
          </a:p>
        </p:txBody>
      </p:sp>
      <p:sp>
        <p:nvSpPr>
          <p:cNvPr id="14" name="Shape 9"/>
          <p:cNvSpPr/>
          <p:nvPr/>
        </p:nvSpPr>
        <p:spPr>
          <a:xfrm>
            <a:off x="0" y="4663440"/>
            <a:ext cx="9144000" cy="480060"/>
          </a:xfrm>
          <a:prstGeom prst="rect">
            <a:avLst/>
          </a:prstGeom>
          <a:solidFill>
            <a:srgbClr val="1B2A4A"/>
          </a:solidFill>
          <a:ln w="12700">
            <a:solidFill>
              <a:srgbClr val="1B2A4A"/>
            </a:solidFill>
            <a:prstDash val="solid"/>
          </a:ln>
        </p:spPr>
      </p:sp>
      <p:sp>
        <p:nvSpPr>
          <p:cNvPr id="15" name="Text 10"/>
          <p:cNvSpPr/>
          <p:nvPr/>
        </p:nvSpPr>
        <p:spPr>
          <a:xfrm>
            <a:off x="0" y="4736592"/>
            <a:ext cx="9144000" cy="320040"/>
          </a:xfrm>
          <a:prstGeom prst="rect">
            <a:avLst/>
          </a:prstGeom>
          <a:noFill/>
          <a:ln/>
        </p:spPr>
        <p:txBody>
          <a:bodyPr wrap="square" lIns="0" tIns="0" rIns="0" bIns="0" rtlCol="0" anchor="ctr"/>
          <a:lstStyle/>
          <a:p>
            <a:pPr algn="ctr" indent="0" marL="0">
              <a:buNone/>
            </a:pPr>
            <a:r>
              <a:rPr lang="en-US" sz="1000" dirty="0">
                <a:solidFill>
                  <a:srgbClr val="8C9BAB"/>
                </a:solidFill>
                <a:latin typeface="Calibri" pitchFamily="34" charset="0"/>
                <a:ea typeface="Calibri" pitchFamily="34" charset="-122"/>
                <a:cs typeface="Calibri" pitchFamily="34" charset="-120"/>
              </a:rPr>
              <a:t>Safe Set Standards  •  Comunidad TFP — Área de la Bahía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7377"/>
        </a:solidFill>
      </p:bgPr>
    </p:bg>
    <p:spTree>
      <p:nvGrpSpPr>
        <p:cNvPr id="1" name=""/>
        <p:cNvGrpSpPr/>
        <p:nvPr/>
      </p:nvGrpSpPr>
      <p:grpSpPr>
        <a:xfrm>
          <a:off x="0" y="0"/>
          <a:ext cx="0" cy="0"/>
          <a:chOff x="0" y="0"/>
          <a:chExt cx="0" cy="0"/>
        </a:xfrm>
      </p:grpSpPr>
      <p:sp>
        <p:nvSpPr>
          <p:cNvPr id="3" name="Text 0"/>
          <p:cNvSpPr/>
          <p:nvPr/>
        </p:nvSpPr>
        <p:spPr>
          <a:xfrm>
            <a:off x="365760" y="274320"/>
            <a:ext cx="1828800" cy="1097280"/>
          </a:xfrm>
          <a:prstGeom prst="rect">
            <a:avLst/>
          </a:prstGeom>
          <a:noFill/>
          <a:ln/>
        </p:spPr>
        <p:txBody>
          <a:bodyPr wrap="square" lIns="0" tIns="0" rIns="0" bIns="0" rtlCol="0" anchor="ctr"/>
          <a:lstStyle/>
          <a:p>
            <a:pPr indent="0" marL="0">
              <a:buNone/>
            </a:pPr>
            <a:r>
              <a:rPr lang="en-US" sz="8000" b="1" dirty="0">
                <a:solidFill>
                  <a:srgbClr val="FFFFFF">
                    <a:alpha val="30000"/>
                  </a:srgbClr>
                </a:solidFill>
                <a:latin typeface="Arial Black" pitchFamily="34" charset="0"/>
                <a:ea typeface="Arial Black" pitchFamily="34" charset="-122"/>
                <a:cs typeface="Arial Black" pitchFamily="34" charset="-120"/>
              </a:rPr>
              <a:t>03</a:t>
            </a:r>
            <a:endParaRPr lang="en-US" sz="8000" dirty="0"/>
          </a:p>
        </p:txBody>
      </p:sp>
      <p:sp>
        <p:nvSpPr>
          <p:cNvPr id="4" name="Text 1"/>
          <p:cNvSpPr/>
          <p:nvPr/>
        </p:nvSpPr>
        <p:spPr>
          <a:xfrm>
            <a:off x="365760" y="1280160"/>
            <a:ext cx="8229600" cy="1280160"/>
          </a:xfrm>
          <a:prstGeom prst="rect">
            <a:avLst/>
          </a:prstGeom>
          <a:noFill/>
          <a:ln/>
        </p:spPr>
        <p:txBody>
          <a:bodyPr wrap="square" lIns="0" tIns="0" rIns="0" bIns="0" rtlCol="0" anchor="ctr"/>
          <a:lstStyle/>
          <a:p>
            <a:pPr indent="0" marL="0">
              <a:buNone/>
            </a:pPr>
            <a:r>
              <a:rPr lang="en-US" sz="3600" b="1" spc="400" kern="0" dirty="0">
                <a:solidFill>
                  <a:srgbClr val="FFFFFF"/>
                </a:solidFill>
                <a:latin typeface="Arial Black" pitchFamily="34" charset="0"/>
                <a:ea typeface="Arial Black" pitchFamily="34" charset="-122"/>
                <a:cs typeface="Arial Black" pitchFamily="34" charset="-120"/>
              </a:rPr>
              <a:t>ESTÁNDARES</a:t>
            </a:r>
            <a:endParaRPr lang="en-US" sz="3600" dirty="0"/>
          </a:p>
          <a:p>
            <a:pPr indent="0" marL="0">
              <a:buNone/>
            </a:pPr>
            <a:r>
              <a:rPr lang="en-US" sz="3600" b="1" spc="400" kern="0" dirty="0">
                <a:solidFill>
                  <a:srgbClr val="FFFFFF"/>
                </a:solidFill>
                <a:latin typeface="Arial Black" pitchFamily="34" charset="0"/>
                <a:ea typeface="Arial Black" pitchFamily="34" charset="-122"/>
                <a:cs typeface="Arial Black" pitchFamily="34" charset="-120"/>
              </a:rPr>
              <a:t>PARA MODELOS</a:t>
            </a:r>
            <a:endParaRPr lang="en-US" sz="3600" dirty="0"/>
          </a:p>
        </p:txBody>
      </p:sp>
      <p:sp>
        <p:nvSpPr>
          <p:cNvPr id="5" name="Text 2"/>
          <p:cNvSpPr/>
          <p:nvPr/>
        </p:nvSpPr>
        <p:spPr>
          <a:xfrm>
            <a:off x="365760" y="2697480"/>
            <a:ext cx="8229600" cy="457200"/>
          </a:xfrm>
          <a:prstGeom prst="rect">
            <a:avLst/>
          </a:prstGeom>
          <a:noFill/>
          <a:ln/>
        </p:spPr>
        <p:txBody>
          <a:bodyPr wrap="square" lIns="0" tIns="0" rIns="0" bIns="0" rtlCol="0" anchor="ctr"/>
          <a:lstStyle/>
          <a:p>
            <a:pPr indent="0" marL="0">
              <a:buNone/>
            </a:pPr>
            <a:r>
              <a:rPr lang="en-US" sz="1800" dirty="0">
                <a:solidFill>
                  <a:srgbClr val="D0F0ED"/>
                </a:solidFill>
                <a:latin typeface="Calibri" pitchFamily="34" charset="0"/>
                <a:ea typeface="Calibri" pitchFamily="34" charset="-122"/>
                <a:cs typeface="Calibri" pitchFamily="34" charset="-120"/>
              </a:rPr>
              <a:t>El profesionalismo va en ambas direcciones.</a:t>
            </a:r>
            <a:endParaRPr lang="en-US" sz="1800" dirty="0"/>
          </a:p>
        </p:txBody>
      </p:sp>
      <p:sp>
        <p:nvSpPr>
          <p:cNvPr id="6" name="Shape 3"/>
          <p:cNvSpPr/>
          <p:nvPr/>
        </p:nvSpPr>
        <p:spPr>
          <a:xfrm>
            <a:off x="0" y="4572000"/>
            <a:ext cx="9144000" cy="571500"/>
          </a:xfrm>
          <a:prstGeom prst="rect">
            <a:avLst/>
          </a:prstGeom>
          <a:solidFill>
            <a:srgbClr val="1B2A4A"/>
          </a:solidFill>
          <a:ln w="12700">
            <a:solidFill>
              <a:srgbClr val="1B2A4A"/>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3" name="Shape 0"/>
          <p:cNvSpPr/>
          <p:nvPr/>
        </p:nvSpPr>
        <p:spPr>
          <a:xfrm>
            <a:off x="0" y="0"/>
            <a:ext cx="9144000" cy="640080"/>
          </a:xfrm>
          <a:prstGeom prst="rect">
            <a:avLst/>
          </a:prstGeom>
          <a:solidFill>
            <a:srgbClr val="1B2A4A"/>
          </a:solidFill>
          <a:ln w="12700">
            <a:solidFill>
              <a:srgbClr val="1B2A4A"/>
            </a:solidFill>
            <a:prstDash val="solid"/>
          </a:ln>
        </p:spPr>
      </p:sp>
      <p:sp>
        <p:nvSpPr>
          <p:cNvPr id="4" name="Text 1"/>
          <p:cNvSpPr/>
          <p:nvPr/>
        </p:nvSpPr>
        <p:spPr>
          <a:xfrm>
            <a:off x="365760" y="91440"/>
            <a:ext cx="5486400" cy="457200"/>
          </a:xfrm>
          <a:prstGeom prst="rect">
            <a:avLst/>
          </a:prstGeom>
          <a:noFill/>
          <a:ln/>
        </p:spPr>
        <p:txBody>
          <a:bodyPr wrap="square" lIns="0" tIns="0" rIns="0" bIns="0" rtlCol="0" anchor="ctr"/>
          <a:lstStyle/>
          <a:p>
            <a:pPr indent="0" marL="0">
              <a:buNone/>
            </a:pPr>
            <a:r>
              <a:rPr lang="en-US" sz="1300" b="1" dirty="0">
                <a:solidFill>
                  <a:srgbClr val="14FFEC"/>
                </a:solidFill>
                <a:latin typeface="Calibri" pitchFamily="34" charset="0"/>
                <a:ea typeface="Calibri" pitchFamily="34" charset="-122"/>
                <a:cs typeface="Calibri" pitchFamily="34" charset="-120"/>
              </a:rPr>
              <a:t>ESTÁNDARES PARA MODELOS</a:t>
            </a:r>
            <a:endParaRPr lang="en-US" sz="1300" dirty="0"/>
          </a:p>
        </p:txBody>
      </p:sp>
      <p:sp>
        <p:nvSpPr>
          <p:cNvPr id="5" name="Text 2"/>
          <p:cNvSpPr/>
          <p:nvPr/>
        </p:nvSpPr>
        <p:spPr>
          <a:xfrm>
            <a:off x="365760" y="777240"/>
            <a:ext cx="8412480" cy="594360"/>
          </a:xfrm>
          <a:prstGeom prst="rect">
            <a:avLst/>
          </a:prstGeom>
          <a:noFill/>
          <a:ln/>
        </p:spPr>
        <p:txBody>
          <a:bodyPr wrap="square" lIns="0" tIns="0" rIns="0" bIns="0" rtlCol="0" anchor="ctr"/>
          <a:lstStyle/>
          <a:p>
            <a:pPr indent="0" marL="0">
              <a:buNone/>
            </a:pPr>
            <a:r>
              <a:rPr lang="en-US" sz="2800" b="1" dirty="0">
                <a:solidFill>
                  <a:srgbClr val="1B2A4A"/>
                </a:solidFill>
                <a:latin typeface="Arial Black" pitchFamily="34" charset="0"/>
                <a:ea typeface="Arial Black" pitchFamily="34" charset="-122"/>
                <a:cs typeface="Arial Black" pitchFamily="34" charset="-120"/>
              </a:rPr>
              <a:t>Lo Que Se Espera de Ti en el Set</a:t>
            </a:r>
            <a:endParaRPr lang="en-US" sz="2800" dirty="0"/>
          </a:p>
        </p:txBody>
      </p:sp>
      <p:sp>
        <p:nvSpPr>
          <p:cNvPr id="6" name="Shape 3"/>
          <p:cNvSpPr/>
          <p:nvPr/>
        </p:nvSpPr>
        <p:spPr>
          <a:xfrm>
            <a:off x="320040" y="1508760"/>
            <a:ext cx="4114800" cy="137160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7" name="Image 0" descr="preencoded.png">    </p:cNvPr>
          <p:cNvPicPr>
            <a:picLocks noChangeAspect="1"/>
          </p:cNvPicPr>
          <p:nvPr/>
        </p:nvPicPr>
        <p:blipFill>
          <a:blip r:embed="rId1"/>
          <a:stretch>
            <a:fillRect/>
          </a:stretch>
        </p:blipFill>
        <p:spPr>
          <a:xfrm>
            <a:off x="457200" y="1856232"/>
            <a:ext cx="548640" cy="548640"/>
          </a:xfrm>
          <a:prstGeom prst="rect">
            <a:avLst/>
          </a:prstGeom>
        </p:spPr>
      </p:pic>
      <p:sp>
        <p:nvSpPr>
          <p:cNvPr id="8" name="Text 4"/>
          <p:cNvSpPr/>
          <p:nvPr/>
        </p:nvSpPr>
        <p:spPr>
          <a:xfrm>
            <a:off x="1097280" y="1618488"/>
            <a:ext cx="3200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Sin contacto físico no solicitado</a:t>
            </a:r>
            <a:endParaRPr lang="en-US" sz="1300" dirty="0"/>
          </a:p>
        </p:txBody>
      </p:sp>
      <p:sp>
        <p:nvSpPr>
          <p:cNvPr id="9" name="Text 5"/>
          <p:cNvSpPr/>
          <p:nvPr/>
        </p:nvSpPr>
        <p:spPr>
          <a:xfrm>
            <a:off x="1097280" y="2029968"/>
            <a:ext cx="3200400" cy="731520"/>
          </a:xfrm>
          <a:prstGeom prst="rect">
            <a:avLst/>
          </a:prstGeom>
          <a:noFill/>
          <a:ln/>
        </p:spPr>
        <p:txBody>
          <a:bodyPr wrap="square" lIns="0" tIns="0" rIns="0" bIns="0" rtlCol="0" anchor="ctr"/>
          <a:lstStyle/>
          <a:p>
            <a:pPr indent="0" marL="0">
              <a:buNone/>
            </a:pPr>
            <a:r>
              <a:rPr lang="en-US" sz="1100" dirty="0">
                <a:solidFill>
                  <a:srgbClr val="AABDCE"/>
                </a:solidFill>
                <a:latin typeface="Calibri" pitchFamily="34" charset="0"/>
                <a:ea typeface="Calibri" pitchFamily="34" charset="-122"/>
                <a:cs typeface="Calibri" pitchFamily="34" charset="-120"/>
              </a:rPr>
              <a:t>No inicies contacto físico con ningún fotógrafo, equipo de trabajo o equipo técnico sin permiso.</a:t>
            </a:r>
            <a:endParaRPr lang="en-US" sz="1100" dirty="0"/>
          </a:p>
        </p:txBody>
      </p:sp>
      <p:sp>
        <p:nvSpPr>
          <p:cNvPr id="10" name="Shape 6"/>
          <p:cNvSpPr/>
          <p:nvPr/>
        </p:nvSpPr>
        <p:spPr>
          <a:xfrm>
            <a:off x="4709160" y="1508760"/>
            <a:ext cx="4114800" cy="137160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11" name="Image 1" descr="preencoded.png">    </p:cNvPr>
          <p:cNvPicPr>
            <a:picLocks noChangeAspect="1"/>
          </p:cNvPicPr>
          <p:nvPr/>
        </p:nvPicPr>
        <p:blipFill>
          <a:blip r:embed="rId2"/>
          <a:stretch>
            <a:fillRect/>
          </a:stretch>
        </p:blipFill>
        <p:spPr>
          <a:xfrm>
            <a:off x="4846320" y="1856232"/>
            <a:ext cx="548640" cy="548640"/>
          </a:xfrm>
          <a:prstGeom prst="rect">
            <a:avLst/>
          </a:prstGeom>
        </p:spPr>
      </p:pic>
      <p:sp>
        <p:nvSpPr>
          <p:cNvPr id="12" name="Text 7"/>
          <p:cNvSpPr/>
          <p:nvPr/>
        </p:nvSpPr>
        <p:spPr>
          <a:xfrm>
            <a:off x="5486400" y="1618488"/>
            <a:ext cx="3200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Redirige verbalmente</a:t>
            </a:r>
            <a:endParaRPr lang="en-US" sz="1300" dirty="0"/>
          </a:p>
        </p:txBody>
      </p:sp>
      <p:sp>
        <p:nvSpPr>
          <p:cNvPr id="13" name="Text 8"/>
          <p:cNvSpPr/>
          <p:nvPr/>
        </p:nvSpPr>
        <p:spPr>
          <a:xfrm>
            <a:off x="5486400" y="2029968"/>
            <a:ext cx="3200400" cy="731520"/>
          </a:xfrm>
          <a:prstGeom prst="rect">
            <a:avLst/>
          </a:prstGeom>
          <a:noFill/>
          <a:ln/>
        </p:spPr>
        <p:txBody>
          <a:bodyPr wrap="square" lIns="0" tIns="0" rIns="0" bIns="0" rtlCol="0" anchor="ctr"/>
          <a:lstStyle/>
          <a:p>
            <a:pPr indent="0" marL="0">
              <a:buNone/>
            </a:pPr>
            <a:r>
              <a:rPr lang="en-US" sz="1100" dirty="0">
                <a:solidFill>
                  <a:srgbClr val="AABDCE"/>
                </a:solidFill>
                <a:latin typeface="Calibri" pitchFamily="34" charset="0"/>
                <a:ea typeface="Calibri" pitchFamily="34" charset="-122"/>
                <a:cs typeface="Calibri" pitchFamily="34" charset="-120"/>
              </a:rPr>
              <a:t>Si quieres cambiar la dirección creativa, dilo — no lo demuestres físicamente sobre el fotógrafo.</a:t>
            </a:r>
            <a:endParaRPr lang="en-US" sz="1100" dirty="0"/>
          </a:p>
        </p:txBody>
      </p:sp>
      <p:sp>
        <p:nvSpPr>
          <p:cNvPr id="14" name="Shape 9"/>
          <p:cNvSpPr/>
          <p:nvPr/>
        </p:nvSpPr>
        <p:spPr>
          <a:xfrm>
            <a:off x="320040" y="3017520"/>
            <a:ext cx="4114800" cy="137160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15" name="Image 2" descr="preencoded.png">    </p:cNvPr>
          <p:cNvPicPr>
            <a:picLocks noChangeAspect="1"/>
          </p:cNvPicPr>
          <p:nvPr/>
        </p:nvPicPr>
        <p:blipFill>
          <a:blip r:embed="rId3"/>
          <a:stretch>
            <a:fillRect/>
          </a:stretch>
        </p:blipFill>
        <p:spPr>
          <a:xfrm>
            <a:off x="457200" y="3364992"/>
            <a:ext cx="548640" cy="548640"/>
          </a:xfrm>
          <a:prstGeom prst="rect">
            <a:avLst/>
          </a:prstGeom>
        </p:spPr>
      </p:pic>
      <p:sp>
        <p:nvSpPr>
          <p:cNvPr id="16" name="Text 10"/>
          <p:cNvSpPr/>
          <p:nvPr/>
        </p:nvSpPr>
        <p:spPr>
          <a:xfrm>
            <a:off x="1097280" y="3127248"/>
            <a:ext cx="3200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Mantente dentro del concepto acordado</a:t>
            </a:r>
            <a:endParaRPr lang="en-US" sz="1300" dirty="0"/>
          </a:p>
        </p:txBody>
      </p:sp>
      <p:sp>
        <p:nvSpPr>
          <p:cNvPr id="17" name="Text 11"/>
          <p:cNvSpPr/>
          <p:nvPr/>
        </p:nvSpPr>
        <p:spPr>
          <a:xfrm>
            <a:off x="1097280" y="3538728"/>
            <a:ext cx="3200400" cy="731520"/>
          </a:xfrm>
          <a:prstGeom prst="rect">
            <a:avLst/>
          </a:prstGeom>
          <a:noFill/>
          <a:ln/>
        </p:spPr>
        <p:txBody>
          <a:bodyPr wrap="square" lIns="0" tIns="0" rIns="0" bIns="0" rtlCol="0" anchor="ctr"/>
          <a:lstStyle/>
          <a:p>
            <a:pPr indent="0" marL="0">
              <a:buNone/>
            </a:pPr>
            <a:r>
              <a:rPr lang="en-US" sz="1100" dirty="0">
                <a:solidFill>
                  <a:srgbClr val="AABDCE"/>
                </a:solidFill>
                <a:latin typeface="Calibri" pitchFamily="34" charset="0"/>
                <a:ea typeface="Calibri" pitchFamily="34" charset="-122"/>
                <a:cs typeface="Calibri" pitchFamily="34" charset="-120"/>
              </a:rPr>
              <a:t>Conoce el tipo de sesión que acordaste. Si la dirección cambia hacia algo incómodo, habla claramente.</a:t>
            </a:r>
            <a:endParaRPr lang="en-US" sz="1100" dirty="0"/>
          </a:p>
        </p:txBody>
      </p:sp>
      <p:sp>
        <p:nvSpPr>
          <p:cNvPr id="18" name="Shape 12"/>
          <p:cNvSpPr/>
          <p:nvPr/>
        </p:nvSpPr>
        <p:spPr>
          <a:xfrm>
            <a:off x="4709160" y="3017520"/>
            <a:ext cx="4114800" cy="137160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19" name="Image 3" descr="preencoded.png">    </p:cNvPr>
          <p:cNvPicPr>
            <a:picLocks noChangeAspect="1"/>
          </p:cNvPicPr>
          <p:nvPr/>
        </p:nvPicPr>
        <p:blipFill>
          <a:blip r:embed="rId4"/>
          <a:stretch>
            <a:fillRect/>
          </a:stretch>
        </p:blipFill>
        <p:spPr>
          <a:xfrm>
            <a:off x="4846320" y="3364992"/>
            <a:ext cx="548640" cy="548640"/>
          </a:xfrm>
          <a:prstGeom prst="rect">
            <a:avLst/>
          </a:prstGeom>
        </p:spPr>
      </p:pic>
      <p:sp>
        <p:nvSpPr>
          <p:cNvPr id="20" name="Text 13"/>
          <p:cNvSpPr/>
          <p:nvPr/>
        </p:nvSpPr>
        <p:spPr>
          <a:xfrm>
            <a:off x="5486400" y="3127248"/>
            <a:ext cx="3200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Puedes detener la sesión en cualquier momento</a:t>
            </a:r>
            <a:endParaRPr lang="en-US" sz="1300" dirty="0"/>
          </a:p>
        </p:txBody>
      </p:sp>
      <p:sp>
        <p:nvSpPr>
          <p:cNvPr id="21" name="Text 14"/>
          <p:cNvSpPr/>
          <p:nvPr/>
        </p:nvSpPr>
        <p:spPr>
          <a:xfrm>
            <a:off x="5486400" y="3538728"/>
            <a:ext cx="3200400" cy="731520"/>
          </a:xfrm>
          <a:prstGeom prst="rect">
            <a:avLst/>
          </a:prstGeom>
          <a:noFill/>
          <a:ln/>
        </p:spPr>
        <p:txBody>
          <a:bodyPr wrap="square" lIns="0" tIns="0" rIns="0" bIns="0" rtlCol="0" anchor="ctr"/>
          <a:lstStyle/>
          <a:p>
            <a:pPr indent="0" marL="0">
              <a:buNone/>
            </a:pPr>
            <a:r>
              <a:rPr lang="en-US" sz="1100" dirty="0">
                <a:solidFill>
                  <a:srgbClr val="AABDCE"/>
                </a:solidFill>
                <a:latin typeface="Calibri" pitchFamily="34" charset="0"/>
                <a:ea typeface="Calibri" pitchFamily="34" charset="-122"/>
                <a:cs typeface="Calibri" pitchFamily="34" charset="-120"/>
              </a:rPr>
              <a:t>Sin necesidad de explicaciones. Di la palabra y la sesión se detiene. Este derecho le pertenece a todos.</a:t>
            </a:r>
            <a:endParaRPr lang="en-US" sz="1100" dirty="0"/>
          </a:p>
        </p:txBody>
      </p:sp>
      <p:sp>
        <p:nvSpPr>
          <p:cNvPr id="22" name="Shape 15"/>
          <p:cNvSpPr/>
          <p:nvPr/>
        </p:nvSpPr>
        <p:spPr>
          <a:xfrm>
            <a:off x="0" y="4663440"/>
            <a:ext cx="9144000" cy="480060"/>
          </a:xfrm>
          <a:prstGeom prst="rect">
            <a:avLst/>
          </a:prstGeom>
          <a:solidFill>
            <a:srgbClr val="1B2A4A"/>
          </a:solidFill>
          <a:ln w="12700">
            <a:solidFill>
              <a:srgbClr val="1B2A4A"/>
            </a:solidFill>
            <a:prstDash val="solid"/>
          </a:ln>
        </p:spPr>
      </p:sp>
      <p:sp>
        <p:nvSpPr>
          <p:cNvPr id="23" name="Text 16"/>
          <p:cNvSpPr/>
          <p:nvPr/>
        </p:nvSpPr>
        <p:spPr>
          <a:xfrm>
            <a:off x="0" y="4736592"/>
            <a:ext cx="9144000" cy="320040"/>
          </a:xfrm>
          <a:prstGeom prst="rect">
            <a:avLst/>
          </a:prstGeom>
          <a:noFill/>
          <a:ln/>
        </p:spPr>
        <p:txBody>
          <a:bodyPr wrap="square" lIns="0" tIns="0" rIns="0" bIns="0" rtlCol="0" anchor="ctr"/>
          <a:lstStyle/>
          <a:p>
            <a:pPr algn="ctr" indent="0" marL="0">
              <a:buNone/>
            </a:pPr>
            <a:r>
              <a:rPr lang="en-US" sz="1000" dirty="0">
                <a:solidFill>
                  <a:srgbClr val="8C9BAB"/>
                </a:solidFill>
                <a:latin typeface="Calibri" pitchFamily="34" charset="0"/>
                <a:ea typeface="Calibri" pitchFamily="34" charset="-122"/>
                <a:cs typeface="Calibri" pitchFamily="34" charset="-120"/>
              </a:rPr>
              <a:t>Safe Set Standards  •  Comunidad TFP — Área de la Bahía</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A"/>
        </a:solidFill>
      </p:bgPr>
    </p:bg>
    <p:spTree>
      <p:nvGrpSpPr>
        <p:cNvPr id="1" name=""/>
        <p:cNvGrpSpPr/>
        <p:nvPr/>
      </p:nvGrpSpPr>
      <p:grpSpPr>
        <a:xfrm>
          <a:off x="0" y="0"/>
          <a:ext cx="0" cy="0"/>
          <a:chOff x="0" y="0"/>
          <a:chExt cx="0" cy="0"/>
        </a:xfrm>
      </p:grpSpPr>
      <p:sp>
        <p:nvSpPr>
          <p:cNvPr id="3" name="Text 0"/>
          <p:cNvSpPr/>
          <p:nvPr/>
        </p:nvSpPr>
        <p:spPr>
          <a:xfrm>
            <a:off x="365760" y="274320"/>
            <a:ext cx="1828800" cy="1097280"/>
          </a:xfrm>
          <a:prstGeom prst="rect">
            <a:avLst/>
          </a:prstGeom>
          <a:noFill/>
          <a:ln/>
        </p:spPr>
        <p:txBody>
          <a:bodyPr wrap="square" lIns="0" tIns="0" rIns="0" bIns="0" rtlCol="0" anchor="ctr"/>
          <a:lstStyle/>
          <a:p>
            <a:pPr indent="0" marL="0">
              <a:buNone/>
            </a:pPr>
            <a:r>
              <a:rPr lang="en-US" sz="8000" b="1" dirty="0">
                <a:solidFill>
                  <a:srgbClr val="FFFFFF">
                    <a:alpha val="30000"/>
                  </a:srgbClr>
                </a:solidFill>
                <a:latin typeface="Arial Black" pitchFamily="34" charset="0"/>
                <a:ea typeface="Arial Black" pitchFamily="34" charset="-122"/>
                <a:cs typeface="Arial Black" pitchFamily="34" charset="-120"/>
              </a:rPr>
              <a:t>04</a:t>
            </a:r>
            <a:endParaRPr lang="en-US" sz="8000" dirty="0"/>
          </a:p>
        </p:txBody>
      </p:sp>
      <p:sp>
        <p:nvSpPr>
          <p:cNvPr id="4" name="Text 1"/>
          <p:cNvSpPr/>
          <p:nvPr/>
        </p:nvSpPr>
        <p:spPr>
          <a:xfrm>
            <a:off x="365760" y="1280160"/>
            <a:ext cx="8229600" cy="1280160"/>
          </a:xfrm>
          <a:prstGeom prst="rect">
            <a:avLst/>
          </a:prstGeom>
          <a:noFill/>
          <a:ln/>
        </p:spPr>
        <p:txBody>
          <a:bodyPr wrap="square" lIns="0" tIns="0" rIns="0" bIns="0" rtlCol="0" anchor="ctr"/>
          <a:lstStyle/>
          <a:p>
            <a:pPr indent="0" marL="0">
              <a:buNone/>
            </a:pPr>
            <a:r>
              <a:rPr lang="en-US" sz="3600" b="1" spc="400" kern="0" dirty="0">
                <a:solidFill>
                  <a:srgbClr val="FFFFFF"/>
                </a:solidFill>
                <a:latin typeface="Arial Black" pitchFamily="34" charset="0"/>
                <a:ea typeface="Arial Black" pitchFamily="34" charset="-122"/>
                <a:cs typeface="Arial Black" pitchFamily="34" charset="-120"/>
              </a:rPr>
              <a:t>ESTÁNDARES</a:t>
            </a:r>
            <a:endParaRPr lang="en-US" sz="3600" dirty="0"/>
          </a:p>
          <a:p>
            <a:pPr indent="0" marL="0">
              <a:buNone/>
            </a:pPr>
            <a:r>
              <a:rPr lang="en-US" sz="3600" b="1" spc="400" kern="0" dirty="0">
                <a:solidFill>
                  <a:srgbClr val="FFFFFF"/>
                </a:solidFill>
                <a:latin typeface="Arial Black" pitchFamily="34" charset="0"/>
                <a:ea typeface="Arial Black" pitchFamily="34" charset="-122"/>
                <a:cs typeface="Arial Black" pitchFamily="34" charset="-120"/>
              </a:rPr>
              <a:t>COMPARTIDOS</a:t>
            </a:r>
            <a:endParaRPr lang="en-US" sz="3600" dirty="0"/>
          </a:p>
        </p:txBody>
      </p:sp>
      <p:sp>
        <p:nvSpPr>
          <p:cNvPr id="5" name="Text 2"/>
          <p:cNvSpPr/>
          <p:nvPr/>
        </p:nvSpPr>
        <p:spPr>
          <a:xfrm>
            <a:off x="365760" y="2697480"/>
            <a:ext cx="8229600" cy="457200"/>
          </a:xfrm>
          <a:prstGeom prst="rect">
            <a:avLst/>
          </a:prstGeom>
          <a:noFill/>
          <a:ln/>
        </p:spPr>
        <p:txBody>
          <a:bodyPr wrap="square" lIns="0" tIns="0" rIns="0" bIns="0" rtlCol="0" anchor="ctr"/>
          <a:lstStyle/>
          <a:p>
            <a:pPr indent="0" marL="0">
              <a:buNone/>
            </a:pPr>
            <a:r>
              <a:rPr lang="en-US" sz="1800" dirty="0">
                <a:solidFill>
                  <a:srgbClr val="AABDCE"/>
                </a:solidFill>
                <a:latin typeface="Calibri" pitchFamily="34" charset="0"/>
                <a:ea typeface="Calibri" pitchFamily="34" charset="-122"/>
                <a:cs typeface="Calibri" pitchFamily="34" charset="-120"/>
              </a:rPr>
              <a:t>Lo que aplica para todos — sin excepciones.</a:t>
            </a:r>
            <a:endParaRPr lang="en-US" sz="1800" dirty="0"/>
          </a:p>
        </p:txBody>
      </p:sp>
      <p:sp>
        <p:nvSpPr>
          <p:cNvPr id="6" name="Shape 3"/>
          <p:cNvSpPr/>
          <p:nvPr/>
        </p:nvSpPr>
        <p:spPr>
          <a:xfrm>
            <a:off x="0" y="4572000"/>
            <a:ext cx="9144000" cy="571500"/>
          </a:xfrm>
          <a:prstGeom prst="rect">
            <a:avLst/>
          </a:prstGeom>
          <a:solidFill>
            <a:srgbClr val="0D7377"/>
          </a:solidFill>
          <a:ln w="12700">
            <a:solidFill>
              <a:srgbClr val="0D7377"/>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3" name="Shape 0"/>
          <p:cNvSpPr/>
          <p:nvPr/>
        </p:nvSpPr>
        <p:spPr>
          <a:xfrm>
            <a:off x="0" y="0"/>
            <a:ext cx="9144000" cy="640080"/>
          </a:xfrm>
          <a:prstGeom prst="rect">
            <a:avLst/>
          </a:prstGeom>
          <a:solidFill>
            <a:srgbClr val="1B2A4A"/>
          </a:solidFill>
          <a:ln w="12700">
            <a:solidFill>
              <a:srgbClr val="1B2A4A"/>
            </a:solidFill>
            <a:prstDash val="solid"/>
          </a:ln>
        </p:spPr>
      </p:sp>
      <p:sp>
        <p:nvSpPr>
          <p:cNvPr id="4" name="Text 1"/>
          <p:cNvSpPr/>
          <p:nvPr/>
        </p:nvSpPr>
        <p:spPr>
          <a:xfrm>
            <a:off x="365760" y="91440"/>
            <a:ext cx="5486400" cy="457200"/>
          </a:xfrm>
          <a:prstGeom prst="rect">
            <a:avLst/>
          </a:prstGeom>
          <a:noFill/>
          <a:ln/>
        </p:spPr>
        <p:txBody>
          <a:bodyPr wrap="square" lIns="0" tIns="0" rIns="0" bIns="0" rtlCol="0" anchor="ctr"/>
          <a:lstStyle/>
          <a:p>
            <a:pPr indent="0" marL="0">
              <a:buNone/>
            </a:pPr>
            <a:r>
              <a:rPr lang="en-US" sz="1300" b="1" dirty="0">
                <a:solidFill>
                  <a:srgbClr val="14FFEC"/>
                </a:solidFill>
                <a:latin typeface="Calibri" pitchFamily="34" charset="0"/>
                <a:ea typeface="Calibri" pitchFamily="34" charset="-122"/>
                <a:cs typeface="Calibri" pitchFamily="34" charset="-120"/>
              </a:rPr>
              <a:t>ESTÁNDARES COMPARTIDOS</a:t>
            </a:r>
            <a:endParaRPr lang="en-US" sz="1300" dirty="0"/>
          </a:p>
        </p:txBody>
      </p:sp>
      <p:sp>
        <p:nvSpPr>
          <p:cNvPr id="5" name="Text 2"/>
          <p:cNvSpPr/>
          <p:nvPr/>
        </p:nvSpPr>
        <p:spPr>
          <a:xfrm>
            <a:off x="365760" y="777240"/>
            <a:ext cx="8412480" cy="594360"/>
          </a:xfrm>
          <a:prstGeom prst="rect">
            <a:avLst/>
          </a:prstGeom>
          <a:noFill/>
          <a:ln/>
        </p:spPr>
        <p:txBody>
          <a:bodyPr wrap="square" lIns="0" tIns="0" rIns="0" bIns="0" rtlCol="0" anchor="ctr"/>
          <a:lstStyle/>
          <a:p>
            <a:pPr indent="0" marL="0">
              <a:buNone/>
            </a:pPr>
            <a:r>
              <a:rPr lang="en-US" sz="2800" b="1" dirty="0">
                <a:solidFill>
                  <a:srgbClr val="1B2A4A"/>
                </a:solidFill>
                <a:latin typeface="Arial Black" pitchFamily="34" charset="0"/>
                <a:ea typeface="Arial Black" pitchFamily="34" charset="-122"/>
                <a:cs typeface="Arial Black" pitchFamily="34" charset="-120"/>
              </a:rPr>
              <a:t>El Respeto Mutuo No Es Negociable</a:t>
            </a:r>
            <a:endParaRPr lang="en-US" sz="2800" dirty="0"/>
          </a:p>
        </p:txBody>
      </p:sp>
      <p:sp>
        <p:nvSpPr>
          <p:cNvPr id="6" name="Shape 3"/>
          <p:cNvSpPr/>
          <p:nvPr/>
        </p:nvSpPr>
        <p:spPr>
          <a:xfrm>
            <a:off x="320040" y="1508760"/>
            <a:ext cx="2697480" cy="2743200"/>
          </a:xfrm>
          <a:prstGeom prst="rect">
            <a:avLst/>
          </a:prstGeom>
          <a:solidFill>
            <a:srgbClr val="FFFFFF"/>
          </a:solidFill>
          <a:ln w="12700">
            <a:solidFill>
              <a:srgbClr val="DDDDDD"/>
            </a:solidFill>
            <a:prstDash val="solid"/>
          </a:ln>
          <a:effectLst>
            <a:outerShdw sx="100000" sy="100000" kx="0" ky="0" algn="bl" rotWithShape="0" blurRad="101600" dist="38100" dir="8100000">
              <a:srgbClr val="000000">
                <a:alpha val="18000"/>
              </a:srgbClr>
            </a:outerShdw>
          </a:effectLst>
        </p:spPr>
      </p:sp>
      <p:sp>
        <p:nvSpPr>
          <p:cNvPr id="7" name="Shape 4"/>
          <p:cNvSpPr/>
          <p:nvPr/>
        </p:nvSpPr>
        <p:spPr>
          <a:xfrm>
            <a:off x="1325880" y="1664208"/>
            <a:ext cx="685800" cy="685800"/>
          </a:xfrm>
          <a:prstGeom prst="ellipse">
            <a:avLst/>
          </a:prstGeom>
          <a:solidFill>
            <a:srgbClr val="0D7377"/>
          </a:solidFill>
          <a:ln w="12700">
            <a:solidFill>
              <a:srgbClr val="0D7377"/>
            </a:solidFill>
            <a:prstDash val="solid"/>
          </a:ln>
        </p:spPr>
      </p:sp>
      <p:sp>
        <p:nvSpPr>
          <p:cNvPr id="8" name="Text 5"/>
          <p:cNvSpPr/>
          <p:nvPr/>
        </p:nvSpPr>
        <p:spPr>
          <a:xfrm>
            <a:off x="1325880" y="1682496"/>
            <a:ext cx="68580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9" name="Text 6"/>
          <p:cNvSpPr/>
          <p:nvPr/>
        </p:nvSpPr>
        <p:spPr>
          <a:xfrm>
            <a:off x="411480" y="2423160"/>
            <a:ext cx="2514600" cy="438912"/>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Di Algo</a:t>
            </a:r>
            <a:endParaRPr lang="en-US" sz="1500" dirty="0"/>
          </a:p>
        </p:txBody>
      </p:sp>
      <p:sp>
        <p:nvSpPr>
          <p:cNvPr id="10" name="Text 7"/>
          <p:cNvSpPr/>
          <p:nvPr/>
        </p:nvSpPr>
        <p:spPr>
          <a:xfrm>
            <a:off x="457200" y="2926080"/>
            <a:ext cx="2423160" cy="1234440"/>
          </a:xfrm>
          <a:prstGeom prst="rect">
            <a:avLst/>
          </a:prstGeom>
          <a:noFill/>
          <a:ln/>
        </p:spPr>
        <p:txBody>
          <a:bodyPr wrap="square" lIns="0" tIns="0" rIns="0" bIns="0" rtlCol="0" anchor="ctr"/>
          <a:lstStyle/>
          <a:p>
            <a:pPr algn="ctr" indent="0" marL="0">
              <a:buNone/>
            </a:pPr>
            <a:r>
              <a:rPr lang="en-US" sz="1200" dirty="0">
                <a:solidFill>
                  <a:srgbClr val="444444"/>
                </a:solidFill>
                <a:latin typeface="Calibri" pitchFamily="34" charset="0"/>
                <a:ea typeface="Calibri" pitchFamily="34" charset="-122"/>
                <a:cs typeface="Calibri" pitchFamily="34" charset="-120"/>
              </a:rPr>
              <a:t>"I'm not comfortable with that" is a complete sentence. Say it directly and calmly. You don't need to justify it.</a:t>
            </a:r>
            <a:endParaRPr lang="en-US" sz="1200" dirty="0"/>
          </a:p>
        </p:txBody>
      </p:sp>
      <p:sp>
        <p:nvSpPr>
          <p:cNvPr id="11" name="Shape 8"/>
          <p:cNvSpPr/>
          <p:nvPr/>
        </p:nvSpPr>
        <p:spPr>
          <a:xfrm>
            <a:off x="3200400" y="1508760"/>
            <a:ext cx="2697480" cy="2743200"/>
          </a:xfrm>
          <a:prstGeom prst="rect">
            <a:avLst/>
          </a:prstGeom>
          <a:solidFill>
            <a:srgbClr val="FFFFFF"/>
          </a:solidFill>
          <a:ln w="12700">
            <a:solidFill>
              <a:srgbClr val="DDDDDD"/>
            </a:solidFill>
            <a:prstDash val="solid"/>
          </a:ln>
          <a:effectLst>
            <a:outerShdw sx="100000" sy="100000" kx="0" ky="0" algn="bl" rotWithShape="0" blurRad="101600" dist="38100" dir="8100000">
              <a:srgbClr val="000000">
                <a:alpha val="18000"/>
              </a:srgbClr>
            </a:outerShdw>
          </a:effectLst>
        </p:spPr>
      </p:sp>
      <p:sp>
        <p:nvSpPr>
          <p:cNvPr id="12" name="Shape 9"/>
          <p:cNvSpPr/>
          <p:nvPr/>
        </p:nvSpPr>
        <p:spPr>
          <a:xfrm>
            <a:off x="4206240" y="1664208"/>
            <a:ext cx="685800" cy="685800"/>
          </a:xfrm>
          <a:prstGeom prst="ellipse">
            <a:avLst/>
          </a:prstGeom>
          <a:solidFill>
            <a:srgbClr val="F4A261"/>
          </a:solidFill>
          <a:ln w="12700">
            <a:solidFill>
              <a:srgbClr val="F4A261"/>
            </a:solidFill>
            <a:prstDash val="solid"/>
          </a:ln>
        </p:spPr>
      </p:sp>
      <p:sp>
        <p:nvSpPr>
          <p:cNvPr id="13" name="Text 10"/>
          <p:cNvSpPr/>
          <p:nvPr/>
        </p:nvSpPr>
        <p:spPr>
          <a:xfrm>
            <a:off x="4206240" y="1682496"/>
            <a:ext cx="68580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14" name="Text 11"/>
          <p:cNvSpPr/>
          <p:nvPr/>
        </p:nvSpPr>
        <p:spPr>
          <a:xfrm>
            <a:off x="3291840" y="2423160"/>
            <a:ext cx="2514600" cy="438912"/>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Detén la Sesión</a:t>
            </a:r>
            <a:endParaRPr lang="en-US" sz="1500" dirty="0"/>
          </a:p>
        </p:txBody>
      </p:sp>
      <p:sp>
        <p:nvSpPr>
          <p:cNvPr id="15" name="Text 12"/>
          <p:cNvSpPr/>
          <p:nvPr/>
        </p:nvSpPr>
        <p:spPr>
          <a:xfrm>
            <a:off x="3337560" y="2926080"/>
            <a:ext cx="2423160" cy="1234440"/>
          </a:xfrm>
          <a:prstGeom prst="rect">
            <a:avLst/>
          </a:prstGeom>
          <a:noFill/>
          <a:ln/>
        </p:spPr>
        <p:txBody>
          <a:bodyPr wrap="square" lIns="0" tIns="0" rIns="0" bIns="0" rtlCol="0" anchor="ctr"/>
          <a:lstStyle/>
          <a:p>
            <a:pPr algn="ctr" indent="0" marL="0">
              <a:buNone/>
            </a:pPr>
            <a:r>
              <a:rPr lang="en-US" sz="1200" dirty="0">
                <a:solidFill>
                  <a:srgbClr val="444444"/>
                </a:solidFill>
                <a:latin typeface="Calibri" pitchFamily="34" charset="0"/>
                <a:ea typeface="Calibri" pitchFamily="34" charset="-122"/>
                <a:cs typeface="Calibri" pitchFamily="34" charset="-120"/>
              </a:rPr>
              <a:t>Si decirlo no resuelve el problema — detente. Aléjate de la situación y mantén una distancia segura.</a:t>
            </a:r>
            <a:endParaRPr lang="en-US" sz="1200" dirty="0"/>
          </a:p>
        </p:txBody>
      </p:sp>
      <p:sp>
        <p:nvSpPr>
          <p:cNvPr id="16" name="Shape 13"/>
          <p:cNvSpPr/>
          <p:nvPr/>
        </p:nvSpPr>
        <p:spPr>
          <a:xfrm>
            <a:off x="6080760" y="1508760"/>
            <a:ext cx="2697480" cy="2743200"/>
          </a:xfrm>
          <a:prstGeom prst="rect">
            <a:avLst/>
          </a:prstGeom>
          <a:solidFill>
            <a:srgbClr val="FFFFFF"/>
          </a:solidFill>
          <a:ln w="12700">
            <a:solidFill>
              <a:srgbClr val="DDDDDD"/>
            </a:solidFill>
            <a:prstDash val="solid"/>
          </a:ln>
          <a:effectLst>
            <a:outerShdw sx="100000" sy="100000" kx="0" ky="0" algn="bl" rotWithShape="0" blurRad="101600" dist="38100" dir="8100000">
              <a:srgbClr val="000000">
                <a:alpha val="18000"/>
              </a:srgbClr>
            </a:outerShdw>
          </a:effectLst>
        </p:spPr>
      </p:sp>
      <p:sp>
        <p:nvSpPr>
          <p:cNvPr id="17" name="Shape 14"/>
          <p:cNvSpPr/>
          <p:nvPr/>
        </p:nvSpPr>
        <p:spPr>
          <a:xfrm>
            <a:off x="7086600" y="1664208"/>
            <a:ext cx="685800" cy="685800"/>
          </a:xfrm>
          <a:prstGeom prst="ellipse">
            <a:avLst/>
          </a:prstGeom>
          <a:solidFill>
            <a:srgbClr val="1A7F5A"/>
          </a:solidFill>
          <a:ln w="12700">
            <a:solidFill>
              <a:srgbClr val="1A7F5A"/>
            </a:solidFill>
            <a:prstDash val="solid"/>
          </a:ln>
        </p:spPr>
      </p:sp>
      <p:sp>
        <p:nvSpPr>
          <p:cNvPr id="18" name="Text 15"/>
          <p:cNvSpPr/>
          <p:nvPr/>
        </p:nvSpPr>
        <p:spPr>
          <a:xfrm>
            <a:off x="7086600" y="1682496"/>
            <a:ext cx="68580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19" name="Text 16"/>
          <p:cNvSpPr/>
          <p:nvPr/>
        </p:nvSpPr>
        <p:spPr>
          <a:xfrm>
            <a:off x="6172200" y="2423160"/>
            <a:ext cx="2514600" cy="438912"/>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Repórtalo</a:t>
            </a:r>
            <a:endParaRPr lang="en-US" sz="1500" dirty="0"/>
          </a:p>
        </p:txBody>
      </p:sp>
      <p:sp>
        <p:nvSpPr>
          <p:cNvPr id="20" name="Text 17"/>
          <p:cNvSpPr/>
          <p:nvPr/>
        </p:nvSpPr>
        <p:spPr>
          <a:xfrm>
            <a:off x="6217920" y="2926080"/>
            <a:ext cx="2423160" cy="1234440"/>
          </a:xfrm>
          <a:prstGeom prst="rect">
            <a:avLst/>
          </a:prstGeom>
          <a:noFill/>
          <a:ln/>
        </p:spPr>
        <p:txBody>
          <a:bodyPr wrap="square" lIns="0" tIns="0" rIns="0" bIns="0" rtlCol="0" anchor="ctr"/>
          <a:lstStyle/>
          <a:p>
            <a:pPr algn="ctr" indent="0" marL="0">
              <a:buNone/>
            </a:pPr>
            <a:r>
              <a:rPr lang="en-US" sz="1200" dirty="0">
                <a:solidFill>
                  <a:srgbClr val="444444"/>
                </a:solidFill>
                <a:latin typeface="Calibri" pitchFamily="34" charset="0"/>
                <a:ea typeface="Calibri" pitchFamily="34" charset="-122"/>
                <a:cs typeface="Calibri" pitchFamily="34" charset="-120"/>
              </a:rPr>
              <a:t>Dile al organizador del evento qué pasó, cuándo y quién estuvo involucrado. Sé específico. La comunidad se autocorrige cuando los problemas salen a la luz.</a:t>
            </a:r>
            <a:endParaRPr lang="en-US" sz="1200" dirty="0"/>
          </a:p>
        </p:txBody>
      </p:sp>
      <p:sp>
        <p:nvSpPr>
          <p:cNvPr id="21" name="Shape 18"/>
          <p:cNvSpPr/>
          <p:nvPr/>
        </p:nvSpPr>
        <p:spPr>
          <a:xfrm>
            <a:off x="0" y="4663440"/>
            <a:ext cx="9144000" cy="480060"/>
          </a:xfrm>
          <a:prstGeom prst="rect">
            <a:avLst/>
          </a:prstGeom>
          <a:solidFill>
            <a:srgbClr val="1B2A4A"/>
          </a:solidFill>
          <a:ln w="12700">
            <a:solidFill>
              <a:srgbClr val="1B2A4A"/>
            </a:solidFill>
            <a:prstDash val="solid"/>
          </a:ln>
        </p:spPr>
      </p:sp>
      <p:sp>
        <p:nvSpPr>
          <p:cNvPr id="22" name="Text 19"/>
          <p:cNvSpPr/>
          <p:nvPr/>
        </p:nvSpPr>
        <p:spPr>
          <a:xfrm>
            <a:off x="0" y="4736592"/>
            <a:ext cx="9144000" cy="320040"/>
          </a:xfrm>
          <a:prstGeom prst="rect">
            <a:avLst/>
          </a:prstGeom>
          <a:noFill/>
          <a:ln/>
        </p:spPr>
        <p:txBody>
          <a:bodyPr wrap="square" lIns="0" tIns="0" rIns="0" bIns="0" rtlCol="0" anchor="ctr"/>
          <a:lstStyle/>
          <a:p>
            <a:pPr algn="ctr" indent="0" marL="0">
              <a:buNone/>
            </a:pPr>
            <a:r>
              <a:rPr lang="en-US" sz="1000" dirty="0">
                <a:solidFill>
                  <a:srgbClr val="8C9BAB"/>
                </a:solidFill>
                <a:latin typeface="Calibri" pitchFamily="34" charset="0"/>
                <a:ea typeface="Calibri" pitchFamily="34" charset="-122"/>
                <a:cs typeface="Calibri" pitchFamily="34" charset="-120"/>
              </a:rPr>
              <a:t>Safe Set Standards  •  Comunidad TFP — Área de la Bahía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3" name="Shape 0"/>
          <p:cNvSpPr/>
          <p:nvPr/>
        </p:nvSpPr>
        <p:spPr>
          <a:xfrm>
            <a:off x="0" y="0"/>
            <a:ext cx="9144000" cy="640080"/>
          </a:xfrm>
          <a:prstGeom prst="rect">
            <a:avLst/>
          </a:prstGeom>
          <a:solidFill>
            <a:srgbClr val="1B2A4A"/>
          </a:solidFill>
          <a:ln w="12700">
            <a:solidFill>
              <a:srgbClr val="1B2A4A"/>
            </a:solidFill>
            <a:prstDash val="solid"/>
          </a:ln>
        </p:spPr>
      </p:sp>
      <p:sp>
        <p:nvSpPr>
          <p:cNvPr id="4" name="Text 1"/>
          <p:cNvSpPr/>
          <p:nvPr/>
        </p:nvSpPr>
        <p:spPr>
          <a:xfrm>
            <a:off x="365760" y="91440"/>
            <a:ext cx="5486400" cy="457200"/>
          </a:xfrm>
          <a:prstGeom prst="rect">
            <a:avLst/>
          </a:prstGeom>
          <a:noFill/>
          <a:ln/>
        </p:spPr>
        <p:txBody>
          <a:bodyPr wrap="square" lIns="0" tIns="0" rIns="0" bIns="0" rtlCol="0" anchor="ctr"/>
          <a:lstStyle/>
          <a:p>
            <a:pPr indent="0" marL="0">
              <a:buNone/>
            </a:pPr>
            <a:r>
              <a:rPr lang="en-US" sz="1300" b="1" dirty="0">
                <a:solidFill>
                  <a:srgbClr val="14FFEC"/>
                </a:solidFill>
                <a:latin typeface="Calibri" pitchFamily="34" charset="0"/>
                <a:ea typeface="Calibri" pitchFamily="34" charset="-122"/>
                <a:cs typeface="Calibri" pitchFamily="34" charset="-120"/>
              </a:rPr>
              <a:t>ESTÁNDARES COMPARTIDOS</a:t>
            </a:r>
            <a:endParaRPr lang="en-US" sz="1300" dirty="0"/>
          </a:p>
        </p:txBody>
      </p:sp>
      <p:sp>
        <p:nvSpPr>
          <p:cNvPr id="5" name="Text 2"/>
          <p:cNvSpPr/>
          <p:nvPr/>
        </p:nvSpPr>
        <p:spPr>
          <a:xfrm>
            <a:off x="365760" y="777240"/>
            <a:ext cx="8412480" cy="594360"/>
          </a:xfrm>
          <a:prstGeom prst="rect">
            <a:avLst/>
          </a:prstGeom>
          <a:noFill/>
          <a:ln/>
        </p:spPr>
        <p:txBody>
          <a:bodyPr wrap="square" lIns="0" tIns="0" rIns="0" bIns="0" rtlCol="0" anchor="ctr"/>
          <a:lstStyle/>
          <a:p>
            <a:pPr indent="0" marL="0">
              <a:buNone/>
            </a:pPr>
            <a:r>
              <a:rPr lang="en-US" sz="2800" b="1" dirty="0">
                <a:solidFill>
                  <a:srgbClr val="C0392B"/>
                </a:solidFill>
                <a:latin typeface="Arial Black" pitchFamily="34" charset="0"/>
                <a:ea typeface="Arial Black" pitchFamily="34" charset="-122"/>
                <a:cs typeface="Arial Black" pitchFamily="34" charset="-120"/>
              </a:rPr>
              <a:t>Lo Que Te Saca del Grupo — De Inmediato</a:t>
            </a:r>
            <a:endParaRPr lang="en-US" sz="2800" dirty="0"/>
          </a:p>
        </p:txBody>
      </p:sp>
      <p:pic>
        <p:nvPicPr>
          <p:cNvPr id="6" name="Image 0" descr="preencoded.png">    </p:cNvPr>
          <p:cNvPicPr>
            <a:picLocks noChangeAspect="1"/>
          </p:cNvPicPr>
          <p:nvPr/>
        </p:nvPicPr>
        <p:blipFill>
          <a:blip r:embed="rId1"/>
          <a:stretch>
            <a:fillRect/>
          </a:stretch>
        </p:blipFill>
        <p:spPr>
          <a:xfrm>
            <a:off x="365760" y="1508760"/>
            <a:ext cx="594360" cy="594360"/>
          </a:xfrm>
          <a:prstGeom prst="rect">
            <a:avLst/>
          </a:prstGeom>
        </p:spPr>
      </p:pic>
      <p:sp>
        <p:nvSpPr>
          <p:cNvPr id="7" name="Text 3"/>
          <p:cNvSpPr/>
          <p:nvPr/>
        </p:nvSpPr>
        <p:spPr>
          <a:xfrm>
            <a:off x="365760" y="2240280"/>
            <a:ext cx="5303520" cy="2194560"/>
          </a:xfrm>
          <a:prstGeom prst="rect">
            <a:avLst/>
          </a:prstGeom>
          <a:noFill/>
          <a:ln/>
        </p:spPr>
        <p:txBody>
          <a:bodyPr wrap="square" lIns="0" tIns="0" rIns="0" bIns="0" rtlCol="0" anchor="ctr"/>
          <a:lstStyle/>
          <a:p>
            <a:pPr marL="342900" indent="-342900">
              <a:buSzPct val="100000"/>
              <a:buChar char="•"/>
            </a:pPr>
            <a:r>
              <a:rPr lang="en-US" sz="1400" dirty="0">
                <a:solidFill>
                  <a:srgbClr val="111827"/>
                </a:solidFill>
                <a:latin typeface="Calibri" pitchFamily="34" charset="0"/>
                <a:ea typeface="Calibri" pitchFamily="34" charset="-122"/>
                <a:cs typeface="Calibri" pitchFamily="34" charset="-120"/>
              </a:rPr>
              <a:t>Cualquier contacto físico no deseado</a:t>
            </a:r>
            <a:endParaRPr lang="en-US" sz="1400" dirty="0"/>
          </a:p>
          <a:p>
            <a:pPr marL="342900" indent="-342900">
              <a:buSzPct val="100000"/>
              <a:buChar char="•"/>
            </a:pPr>
            <a:r>
              <a:rPr lang="en-US" sz="1400" dirty="0">
                <a:solidFill>
                  <a:srgbClr val="111827"/>
                </a:solidFill>
                <a:latin typeface="Calibri" pitchFamily="34" charset="0"/>
                <a:ea typeface="Calibri" pitchFamily="34" charset="-122"/>
                <a:cs typeface="Calibri" pitchFamily="34" charset="-120"/>
              </a:rPr>
              <a:t>Cualquier conducta inapropiada que involucre a un menor</a:t>
            </a:r>
            <a:endParaRPr lang="en-US" sz="1400" dirty="0"/>
          </a:p>
          <a:p>
            <a:pPr marL="342900" indent="-342900">
              <a:buSzPct val="100000"/>
              <a:buChar char="•"/>
            </a:pPr>
            <a:r>
              <a:rPr lang="en-US" sz="1400" dirty="0">
                <a:solidFill>
                  <a:srgbClr val="111827"/>
                </a:solidFill>
                <a:latin typeface="Calibri" pitchFamily="34" charset="0"/>
                <a:ea typeface="Calibri" pitchFamily="34" charset="-122"/>
                <a:cs typeface="Calibri" pitchFamily="34" charset="-120"/>
              </a:rPr>
              <a:t>Represalias contra alguien que expresó una preocupación</a:t>
            </a:r>
            <a:endParaRPr lang="en-US" sz="1400" dirty="0"/>
          </a:p>
          <a:p>
            <a:pPr marL="342900" indent="-342900">
              <a:buSzPct val="100000"/>
              <a:buChar char="•"/>
            </a:pPr>
            <a:r>
              <a:rPr lang="en-US" sz="1400" dirty="0">
                <a:solidFill>
                  <a:srgbClr val="111827"/>
                </a:solidFill>
                <a:latin typeface="Calibri" pitchFamily="34" charset="0"/>
                <a:ea typeface="Calibri" pitchFamily="34" charset="-122"/>
                <a:cs typeface="Calibri" pitchFamily="34" charset="-120"/>
              </a:rPr>
              <a:t>Distribución de imágenes sin consentimiento</a:t>
            </a:r>
            <a:endParaRPr lang="en-US" sz="1400" dirty="0"/>
          </a:p>
          <a:p>
            <a:pPr marL="342900" indent="-342900">
              <a:buSzPct val="100000"/>
              <a:buChar char="•"/>
            </a:pPr>
            <a:r>
              <a:rPr lang="en-US" sz="1400" dirty="0">
                <a:solidFill>
                  <a:srgbClr val="111827"/>
                </a:solidFill>
                <a:latin typeface="Calibri" pitchFamily="34" charset="0"/>
                <a:ea typeface="Calibri" pitchFamily="34" charset="-122"/>
                <a:cs typeface="Calibri" pitchFamily="34" charset="-120"/>
              </a:rPr>
              <a:t>Acoso de cualquier tipo — en línea o en persona</a:t>
            </a:r>
            <a:endParaRPr lang="en-US" sz="1400" dirty="0"/>
          </a:p>
        </p:txBody>
      </p:sp>
      <p:sp>
        <p:nvSpPr>
          <p:cNvPr id="8" name="Shape 4"/>
          <p:cNvSpPr/>
          <p:nvPr/>
        </p:nvSpPr>
        <p:spPr>
          <a:xfrm>
            <a:off x="5943600" y="1417320"/>
            <a:ext cx="2834640" cy="292608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sp>
        <p:nvSpPr>
          <p:cNvPr id="9" name="Text 5"/>
          <p:cNvSpPr/>
          <p:nvPr/>
        </p:nvSpPr>
        <p:spPr>
          <a:xfrm>
            <a:off x="6035040" y="1737360"/>
            <a:ext cx="2651760"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Sin apelaciones.</a:t>
            </a:r>
            <a:endParaRPr lang="en-US" sz="2200" dirty="0"/>
          </a:p>
          <a:p>
            <a:pPr algn="ctr" indent="0" marL="0">
              <a:buNone/>
            </a:pPr>
            <a:r>
              <a:rPr lang="en-US" sz="2200" b="1" dirty="0">
                <a:solidFill>
                  <a:srgbClr val="FFFFFF"/>
                </a:solidFill>
                <a:latin typeface="Arial Black" pitchFamily="34" charset="0"/>
                <a:ea typeface="Arial Black" pitchFamily="34" charset="-122"/>
                <a:cs typeface="Arial Black" pitchFamily="34" charset="-120"/>
              </a:rPr>
              <a:t>Sin excepciones.</a:t>
            </a:r>
            <a:endParaRPr lang="en-US" sz="2200" dirty="0"/>
          </a:p>
        </p:txBody>
      </p:sp>
      <p:sp>
        <p:nvSpPr>
          <p:cNvPr id="10" name="Text 6"/>
          <p:cNvSpPr/>
          <p:nvPr/>
        </p:nvSpPr>
        <p:spPr>
          <a:xfrm>
            <a:off x="6035040" y="2834640"/>
            <a:ext cx="2651760" cy="1280160"/>
          </a:xfrm>
          <a:prstGeom prst="rect">
            <a:avLst/>
          </a:prstGeom>
          <a:noFill/>
          <a:ln/>
        </p:spPr>
        <p:txBody>
          <a:bodyPr wrap="square" lIns="0" tIns="0" rIns="0" bIns="0" rtlCol="0" anchor="ctr"/>
          <a:lstStyle/>
          <a:p>
            <a:pPr algn="ctr" indent="0" marL="0">
              <a:buNone/>
            </a:pPr>
            <a:r>
              <a:rPr lang="en-US" sz="1200" dirty="0">
                <a:solidFill>
                  <a:srgbClr val="AABDCE"/>
                </a:solidFill>
                <a:latin typeface="Calibri" pitchFamily="34" charset="0"/>
                <a:ea typeface="Calibri" pitchFamily="34" charset="-122"/>
                <a:cs typeface="Calibri" pitchFamily="34" charset="-120"/>
              </a:rPr>
              <a:t>Esto no se trata de controlar la creatividad. Se trata de asegurarse de que todos se vayan a casa sintiéndose bien con lo que crearon.</a:t>
            </a:r>
            <a:endParaRPr lang="en-US" sz="1200" dirty="0"/>
          </a:p>
        </p:txBody>
      </p:sp>
      <p:sp>
        <p:nvSpPr>
          <p:cNvPr id="11" name="Shape 7"/>
          <p:cNvSpPr/>
          <p:nvPr/>
        </p:nvSpPr>
        <p:spPr>
          <a:xfrm>
            <a:off x="0" y="4663440"/>
            <a:ext cx="9144000" cy="480060"/>
          </a:xfrm>
          <a:prstGeom prst="rect">
            <a:avLst/>
          </a:prstGeom>
          <a:solidFill>
            <a:srgbClr val="1B2A4A"/>
          </a:solidFill>
          <a:ln w="12700">
            <a:solidFill>
              <a:srgbClr val="1B2A4A"/>
            </a:solidFill>
            <a:prstDash val="solid"/>
          </a:ln>
        </p:spPr>
      </p:sp>
      <p:sp>
        <p:nvSpPr>
          <p:cNvPr id="12" name="Text 8"/>
          <p:cNvSpPr/>
          <p:nvPr/>
        </p:nvSpPr>
        <p:spPr>
          <a:xfrm>
            <a:off x="0" y="4736592"/>
            <a:ext cx="9144000" cy="320040"/>
          </a:xfrm>
          <a:prstGeom prst="rect">
            <a:avLst/>
          </a:prstGeom>
          <a:noFill/>
          <a:ln/>
        </p:spPr>
        <p:txBody>
          <a:bodyPr wrap="square" lIns="0" tIns="0" rIns="0" bIns="0" rtlCol="0" anchor="ctr"/>
          <a:lstStyle/>
          <a:p>
            <a:pPr algn="ctr" indent="0" marL="0">
              <a:buNone/>
            </a:pPr>
            <a:r>
              <a:rPr lang="en-US" sz="1000" dirty="0">
                <a:solidFill>
                  <a:srgbClr val="8C9BAB"/>
                </a:solidFill>
                <a:latin typeface="Calibri" pitchFamily="34" charset="0"/>
                <a:ea typeface="Calibri" pitchFamily="34" charset="-122"/>
                <a:cs typeface="Calibri" pitchFamily="34" charset="-120"/>
              </a:rPr>
              <a:t>Safe Set Standards  •  Comunidad TFP — Área de la Bahía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7377"/>
        </a:solidFill>
      </p:bgPr>
    </p:bg>
    <p:spTree>
      <p:nvGrpSpPr>
        <p:cNvPr id="1" name=""/>
        <p:cNvGrpSpPr/>
        <p:nvPr/>
      </p:nvGrpSpPr>
      <p:grpSpPr>
        <a:xfrm>
          <a:off x="0" y="0"/>
          <a:ext cx="0" cy="0"/>
          <a:chOff x="0" y="0"/>
          <a:chExt cx="0" cy="0"/>
        </a:xfrm>
      </p:grpSpPr>
      <p:sp>
        <p:nvSpPr>
          <p:cNvPr id="3" name="Text 0"/>
          <p:cNvSpPr/>
          <p:nvPr/>
        </p:nvSpPr>
        <p:spPr>
          <a:xfrm>
            <a:off x="365760" y="274320"/>
            <a:ext cx="1828800" cy="1097280"/>
          </a:xfrm>
          <a:prstGeom prst="rect">
            <a:avLst/>
          </a:prstGeom>
          <a:noFill/>
          <a:ln/>
        </p:spPr>
        <p:txBody>
          <a:bodyPr wrap="square" lIns="0" tIns="0" rIns="0" bIns="0" rtlCol="0" anchor="ctr"/>
          <a:lstStyle/>
          <a:p>
            <a:pPr indent="0" marL="0">
              <a:buNone/>
            </a:pPr>
            <a:r>
              <a:rPr lang="en-US" sz="8000" b="1" dirty="0">
                <a:solidFill>
                  <a:srgbClr val="FFFFFF">
                    <a:alpha val="30000"/>
                  </a:srgbClr>
                </a:solidFill>
                <a:latin typeface="Arial Black" pitchFamily="34" charset="0"/>
                <a:ea typeface="Arial Black" pitchFamily="34" charset="-122"/>
                <a:cs typeface="Arial Black" pitchFamily="34" charset="-120"/>
              </a:rPr>
              <a:t>05</a:t>
            </a:r>
            <a:endParaRPr lang="en-US" sz="8000" dirty="0"/>
          </a:p>
        </p:txBody>
      </p:sp>
      <p:sp>
        <p:nvSpPr>
          <p:cNvPr id="4" name="Text 1"/>
          <p:cNvSpPr/>
          <p:nvPr/>
        </p:nvSpPr>
        <p:spPr>
          <a:xfrm>
            <a:off x="365760" y="1280160"/>
            <a:ext cx="8229600" cy="1280160"/>
          </a:xfrm>
          <a:prstGeom prst="rect">
            <a:avLst/>
          </a:prstGeom>
          <a:noFill/>
          <a:ln/>
        </p:spPr>
        <p:txBody>
          <a:bodyPr wrap="square" lIns="0" tIns="0" rIns="0" bIns="0" rtlCol="0" anchor="ctr"/>
          <a:lstStyle/>
          <a:p>
            <a:pPr indent="0" marL="0">
              <a:buNone/>
            </a:pPr>
            <a:r>
              <a:rPr lang="en-US" sz="3600" b="1" spc="400" kern="0" dirty="0">
                <a:solidFill>
                  <a:srgbClr val="FFFFFF"/>
                </a:solidFill>
                <a:latin typeface="Arial Black" pitchFamily="34" charset="0"/>
                <a:ea typeface="Arial Black" pitchFamily="34" charset="-122"/>
                <a:cs typeface="Arial Black" pitchFamily="34" charset="-120"/>
              </a:rPr>
              <a:t>FIRMA Y</a:t>
            </a:r>
            <a:endParaRPr lang="en-US" sz="3600" dirty="0"/>
          </a:p>
          <a:p>
            <a:pPr indent="0" marL="0">
              <a:buNone/>
            </a:pPr>
            <a:r>
              <a:rPr lang="en-US" sz="3600" b="1" spc="400" kern="0" dirty="0">
                <a:solidFill>
                  <a:srgbClr val="FFFFFF"/>
                </a:solidFill>
                <a:latin typeface="Arial Black" pitchFamily="34" charset="0"/>
                <a:ea typeface="Arial Black" pitchFamily="34" charset="-122"/>
                <a:cs typeface="Arial Black" pitchFamily="34" charset="-120"/>
              </a:rPr>
              <a:t>SIGUIENTES PASOS</a:t>
            </a:r>
            <a:endParaRPr lang="en-US" sz="3600" dirty="0"/>
          </a:p>
        </p:txBody>
      </p:sp>
      <p:sp>
        <p:nvSpPr>
          <p:cNvPr id="5" name="Text 2"/>
          <p:cNvSpPr/>
          <p:nvPr/>
        </p:nvSpPr>
        <p:spPr>
          <a:xfrm>
            <a:off x="365760" y="2697480"/>
            <a:ext cx="8229600" cy="457200"/>
          </a:xfrm>
          <a:prstGeom prst="rect">
            <a:avLst/>
          </a:prstGeom>
          <a:noFill/>
          <a:ln/>
        </p:spPr>
        <p:txBody>
          <a:bodyPr wrap="square" lIns="0" tIns="0" rIns="0" bIns="0" rtlCol="0" anchor="ctr"/>
          <a:lstStyle/>
          <a:p>
            <a:pPr indent="0" marL="0">
              <a:buNone/>
            </a:pPr>
            <a:r>
              <a:rPr lang="en-US" sz="1800" dirty="0">
                <a:solidFill>
                  <a:srgbClr val="D0F0ED"/>
                </a:solidFill>
                <a:latin typeface="Calibri" pitchFamily="34" charset="0"/>
                <a:ea typeface="Calibri" pitchFamily="34" charset="-122"/>
                <a:cs typeface="Calibri" pitchFamily="34" charset="-120"/>
              </a:rPr>
              <a:t>Tu código QR es tu entrada.</a:t>
            </a:r>
            <a:endParaRPr lang="en-US" sz="1800" dirty="0"/>
          </a:p>
        </p:txBody>
      </p:sp>
      <p:sp>
        <p:nvSpPr>
          <p:cNvPr id="6" name="Shape 3"/>
          <p:cNvSpPr/>
          <p:nvPr/>
        </p:nvSpPr>
        <p:spPr>
          <a:xfrm>
            <a:off x="0" y="4572000"/>
            <a:ext cx="9144000" cy="571500"/>
          </a:xfrm>
          <a:prstGeom prst="rect">
            <a:avLst/>
          </a:prstGeom>
          <a:solidFill>
            <a:srgbClr val="1B2A4A"/>
          </a:solidFill>
          <a:ln w="12700">
            <a:solidFill>
              <a:srgbClr val="1B2A4A"/>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3" name="Shape 0"/>
          <p:cNvSpPr/>
          <p:nvPr/>
        </p:nvSpPr>
        <p:spPr>
          <a:xfrm>
            <a:off x="0" y="0"/>
            <a:ext cx="9144000" cy="640080"/>
          </a:xfrm>
          <a:prstGeom prst="rect">
            <a:avLst/>
          </a:prstGeom>
          <a:solidFill>
            <a:srgbClr val="1B2A4A"/>
          </a:solidFill>
          <a:ln w="12700">
            <a:solidFill>
              <a:srgbClr val="1B2A4A"/>
            </a:solidFill>
            <a:prstDash val="solid"/>
          </a:ln>
        </p:spPr>
      </p:sp>
      <p:sp>
        <p:nvSpPr>
          <p:cNvPr id="4" name="Text 1"/>
          <p:cNvSpPr/>
          <p:nvPr/>
        </p:nvSpPr>
        <p:spPr>
          <a:xfrm>
            <a:off x="365760" y="91440"/>
            <a:ext cx="5486400" cy="457200"/>
          </a:xfrm>
          <a:prstGeom prst="rect">
            <a:avLst/>
          </a:prstGeom>
          <a:noFill/>
          <a:ln/>
        </p:spPr>
        <p:txBody>
          <a:bodyPr wrap="square" lIns="0" tIns="0" rIns="0" bIns="0" rtlCol="0" anchor="ctr"/>
          <a:lstStyle/>
          <a:p>
            <a:pPr indent="0" marL="0">
              <a:buNone/>
            </a:pPr>
            <a:r>
              <a:rPr lang="en-US" sz="1300" b="1" dirty="0">
                <a:solidFill>
                  <a:srgbClr val="14FFEC"/>
                </a:solidFill>
                <a:latin typeface="Calibri" pitchFamily="34" charset="0"/>
                <a:ea typeface="Calibri" pitchFamily="34" charset="-122"/>
                <a:cs typeface="Calibri" pitchFamily="34" charset="-120"/>
              </a:rPr>
              <a:t>FIRMA</a:t>
            </a:r>
            <a:endParaRPr lang="en-US" sz="1300" dirty="0"/>
          </a:p>
        </p:txBody>
      </p:sp>
      <p:sp>
        <p:nvSpPr>
          <p:cNvPr id="5" name="Text 2"/>
          <p:cNvSpPr/>
          <p:nvPr/>
        </p:nvSpPr>
        <p:spPr>
          <a:xfrm>
            <a:off x="365760" y="777240"/>
            <a:ext cx="8412480" cy="594360"/>
          </a:xfrm>
          <a:prstGeom prst="rect">
            <a:avLst/>
          </a:prstGeom>
          <a:noFill/>
          <a:ln/>
        </p:spPr>
        <p:txBody>
          <a:bodyPr wrap="square" lIns="0" tIns="0" rIns="0" bIns="0" rtlCol="0" anchor="ctr"/>
          <a:lstStyle/>
          <a:p>
            <a:pPr indent="0" marL="0">
              <a:buNone/>
            </a:pPr>
            <a:r>
              <a:rPr lang="en-US" sz="2800" b="1" dirty="0">
                <a:solidFill>
                  <a:srgbClr val="1B2A4A"/>
                </a:solidFill>
                <a:latin typeface="Arial Black" pitchFamily="34" charset="0"/>
                <a:ea typeface="Arial Black" pitchFamily="34" charset="-122"/>
                <a:cs typeface="Arial Black" pitchFamily="34" charset="-120"/>
              </a:rPr>
              <a:t>Regístrate → Mira → Firma → Preséntate</a:t>
            </a:r>
            <a:endParaRPr lang="en-US" sz="2800" dirty="0"/>
          </a:p>
        </p:txBody>
      </p:sp>
      <p:sp>
        <p:nvSpPr>
          <p:cNvPr id="6" name="Shape 3"/>
          <p:cNvSpPr/>
          <p:nvPr/>
        </p:nvSpPr>
        <p:spPr>
          <a:xfrm>
            <a:off x="274320" y="1508760"/>
            <a:ext cx="2011680" cy="274320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sp>
        <p:nvSpPr>
          <p:cNvPr id="7" name="Shape 4"/>
          <p:cNvSpPr/>
          <p:nvPr/>
        </p:nvSpPr>
        <p:spPr>
          <a:xfrm>
            <a:off x="932688" y="1664208"/>
            <a:ext cx="685800" cy="685800"/>
          </a:xfrm>
          <a:prstGeom prst="ellipse">
            <a:avLst/>
          </a:prstGeom>
          <a:solidFill>
            <a:srgbClr val="0D7377"/>
          </a:solidFill>
          <a:ln w="12700">
            <a:solidFill>
              <a:srgbClr val="0D7377"/>
            </a:solidFill>
            <a:prstDash val="solid"/>
          </a:ln>
        </p:spPr>
      </p:sp>
      <p:sp>
        <p:nvSpPr>
          <p:cNvPr id="8" name="Text 5"/>
          <p:cNvSpPr/>
          <p:nvPr/>
        </p:nvSpPr>
        <p:spPr>
          <a:xfrm>
            <a:off x="932688" y="1682496"/>
            <a:ext cx="68580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9" name="Text 6"/>
          <p:cNvSpPr/>
          <p:nvPr/>
        </p:nvSpPr>
        <p:spPr>
          <a:xfrm>
            <a:off x="365760" y="2423160"/>
            <a:ext cx="182880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Regístrate</a:t>
            </a:r>
            <a:endParaRPr lang="en-US" sz="1400" dirty="0"/>
          </a:p>
        </p:txBody>
      </p:sp>
      <p:sp>
        <p:nvSpPr>
          <p:cNvPr id="10" name="Text 7"/>
          <p:cNvSpPr/>
          <p:nvPr/>
        </p:nvSpPr>
        <p:spPr>
          <a:xfrm>
            <a:off x="365760" y="2926080"/>
            <a:ext cx="1828800" cy="1234440"/>
          </a:xfrm>
          <a:prstGeom prst="rect">
            <a:avLst/>
          </a:prstGeom>
          <a:noFill/>
          <a:ln/>
        </p:spPr>
        <p:txBody>
          <a:bodyPr wrap="square" lIns="0" tIns="0" rIns="0" bIns="0" rtlCol="0" anchor="ctr"/>
          <a:lstStyle/>
          <a:p>
            <a:pPr algn="ctr" indent="0" marL="0">
              <a:buNone/>
            </a:pPr>
            <a:r>
              <a:rPr lang="en-US" sz="1100" dirty="0">
                <a:solidFill>
                  <a:srgbClr val="AABDCE"/>
                </a:solidFill>
                <a:latin typeface="Calibri" pitchFamily="34" charset="0"/>
                <a:ea typeface="Calibri" pitchFamily="34" charset="-122"/>
                <a:cs typeface="Calibri" pitchFamily="34" charset="-120"/>
              </a:rPr>
              <a:t>Ingresa tu nombre, correo y rol en el enlace de la publicación del grupo.</a:t>
            </a:r>
            <a:endParaRPr lang="en-US" sz="1100" dirty="0"/>
          </a:p>
        </p:txBody>
      </p:sp>
      <p:sp>
        <p:nvSpPr>
          <p:cNvPr id="11" name="Shape 8"/>
          <p:cNvSpPr/>
          <p:nvPr/>
        </p:nvSpPr>
        <p:spPr>
          <a:xfrm>
            <a:off x="2450592" y="1508760"/>
            <a:ext cx="2011680" cy="274320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sp>
        <p:nvSpPr>
          <p:cNvPr id="12" name="Shape 9"/>
          <p:cNvSpPr/>
          <p:nvPr/>
        </p:nvSpPr>
        <p:spPr>
          <a:xfrm>
            <a:off x="3108960" y="1664208"/>
            <a:ext cx="685800" cy="685800"/>
          </a:xfrm>
          <a:prstGeom prst="ellipse">
            <a:avLst/>
          </a:prstGeom>
          <a:solidFill>
            <a:srgbClr val="0D7377"/>
          </a:solidFill>
          <a:ln w="12700">
            <a:solidFill>
              <a:srgbClr val="0D7377"/>
            </a:solidFill>
            <a:prstDash val="solid"/>
          </a:ln>
        </p:spPr>
      </p:sp>
      <p:sp>
        <p:nvSpPr>
          <p:cNvPr id="13" name="Text 10"/>
          <p:cNvSpPr/>
          <p:nvPr/>
        </p:nvSpPr>
        <p:spPr>
          <a:xfrm>
            <a:off x="3108960" y="1682496"/>
            <a:ext cx="68580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14" name="Text 11"/>
          <p:cNvSpPr/>
          <p:nvPr/>
        </p:nvSpPr>
        <p:spPr>
          <a:xfrm>
            <a:off x="2542032" y="2423160"/>
            <a:ext cx="182880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Mira el Video</a:t>
            </a:r>
            <a:endParaRPr lang="en-US" sz="1400" dirty="0"/>
          </a:p>
        </p:txBody>
      </p:sp>
      <p:sp>
        <p:nvSpPr>
          <p:cNvPr id="15" name="Text 12"/>
          <p:cNvSpPr/>
          <p:nvPr/>
        </p:nvSpPr>
        <p:spPr>
          <a:xfrm>
            <a:off x="2542032" y="2926080"/>
            <a:ext cx="1828800" cy="1234440"/>
          </a:xfrm>
          <a:prstGeom prst="rect">
            <a:avLst/>
          </a:prstGeom>
          <a:noFill/>
          <a:ln/>
        </p:spPr>
        <p:txBody>
          <a:bodyPr wrap="square" lIns="0" tIns="0" rIns="0" bIns="0" rtlCol="0" anchor="ctr"/>
          <a:lstStyle/>
          <a:p>
            <a:pPr algn="ctr" indent="0" marL="0">
              <a:buNone/>
            </a:pPr>
            <a:r>
              <a:rPr lang="en-US" sz="1100" dirty="0">
                <a:solidFill>
                  <a:srgbClr val="AABDCE"/>
                </a:solidFill>
                <a:latin typeface="Calibri" pitchFamily="34" charset="0"/>
                <a:ea typeface="Calibri" pitchFamily="34" charset="-122"/>
                <a:cs typeface="Calibri" pitchFamily="34" charset="-120"/>
              </a:rPr>
              <a:t>Completa este video en su totalidad. Debes llegar al final para desbloquear el siguiente paso.</a:t>
            </a:r>
            <a:endParaRPr lang="en-US" sz="1100" dirty="0"/>
          </a:p>
        </p:txBody>
      </p:sp>
      <p:sp>
        <p:nvSpPr>
          <p:cNvPr id="16" name="Shape 13"/>
          <p:cNvSpPr/>
          <p:nvPr/>
        </p:nvSpPr>
        <p:spPr>
          <a:xfrm>
            <a:off x="4626864" y="1508760"/>
            <a:ext cx="2011680" cy="274320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sp>
        <p:nvSpPr>
          <p:cNvPr id="17" name="Shape 14"/>
          <p:cNvSpPr/>
          <p:nvPr/>
        </p:nvSpPr>
        <p:spPr>
          <a:xfrm>
            <a:off x="5285232" y="1664208"/>
            <a:ext cx="685800" cy="685800"/>
          </a:xfrm>
          <a:prstGeom prst="ellipse">
            <a:avLst/>
          </a:prstGeom>
          <a:solidFill>
            <a:srgbClr val="0D7377"/>
          </a:solidFill>
          <a:ln w="12700">
            <a:solidFill>
              <a:srgbClr val="0D7377"/>
            </a:solidFill>
            <a:prstDash val="solid"/>
          </a:ln>
        </p:spPr>
      </p:sp>
      <p:sp>
        <p:nvSpPr>
          <p:cNvPr id="18" name="Text 15"/>
          <p:cNvSpPr/>
          <p:nvPr/>
        </p:nvSpPr>
        <p:spPr>
          <a:xfrm>
            <a:off x="5285232" y="1682496"/>
            <a:ext cx="68580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19" name="Text 16"/>
          <p:cNvSpPr/>
          <p:nvPr/>
        </p:nvSpPr>
        <p:spPr>
          <a:xfrm>
            <a:off x="4718304" y="2423160"/>
            <a:ext cx="182880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Confirma</a:t>
            </a:r>
            <a:endParaRPr lang="en-US" sz="1400" dirty="0"/>
          </a:p>
        </p:txBody>
      </p:sp>
      <p:sp>
        <p:nvSpPr>
          <p:cNvPr id="20" name="Text 17"/>
          <p:cNvSpPr/>
          <p:nvPr/>
        </p:nvSpPr>
        <p:spPr>
          <a:xfrm>
            <a:off x="4718304" y="2926080"/>
            <a:ext cx="1828800" cy="1234440"/>
          </a:xfrm>
          <a:prstGeom prst="rect">
            <a:avLst/>
          </a:prstGeom>
          <a:noFill/>
          <a:ln/>
        </p:spPr>
        <p:txBody>
          <a:bodyPr wrap="square" lIns="0" tIns="0" rIns="0" bIns="0" rtlCol="0" anchor="ctr"/>
          <a:lstStyle/>
          <a:p>
            <a:pPr algn="ctr" indent="0" marL="0">
              <a:buNone/>
            </a:pPr>
            <a:r>
              <a:rPr lang="en-US" sz="1100" dirty="0">
                <a:solidFill>
                  <a:srgbClr val="AABDCE"/>
                </a:solidFill>
                <a:latin typeface="Calibri" pitchFamily="34" charset="0"/>
                <a:ea typeface="Calibri" pitchFamily="34" charset="-122"/>
                <a:cs typeface="Calibri" pitchFamily="34" charset="-120"/>
              </a:rPr>
              <a:t>Marca la casilla confirmando que viste el video y aceptas estos estándares.</a:t>
            </a:r>
            <a:endParaRPr lang="en-US" sz="1100" dirty="0"/>
          </a:p>
        </p:txBody>
      </p:sp>
      <p:sp>
        <p:nvSpPr>
          <p:cNvPr id="21" name="Shape 18"/>
          <p:cNvSpPr/>
          <p:nvPr/>
        </p:nvSpPr>
        <p:spPr>
          <a:xfrm>
            <a:off x="6803136" y="1508760"/>
            <a:ext cx="2011680" cy="274320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sp>
        <p:nvSpPr>
          <p:cNvPr id="22" name="Shape 19"/>
          <p:cNvSpPr/>
          <p:nvPr/>
        </p:nvSpPr>
        <p:spPr>
          <a:xfrm>
            <a:off x="7461504" y="1664208"/>
            <a:ext cx="685800" cy="685800"/>
          </a:xfrm>
          <a:prstGeom prst="ellipse">
            <a:avLst/>
          </a:prstGeom>
          <a:solidFill>
            <a:srgbClr val="0D7377"/>
          </a:solidFill>
          <a:ln w="12700">
            <a:solidFill>
              <a:srgbClr val="0D7377"/>
            </a:solidFill>
            <a:prstDash val="solid"/>
          </a:ln>
        </p:spPr>
      </p:sp>
      <p:sp>
        <p:nvSpPr>
          <p:cNvPr id="23" name="Text 20"/>
          <p:cNvSpPr/>
          <p:nvPr/>
        </p:nvSpPr>
        <p:spPr>
          <a:xfrm>
            <a:off x="7461504" y="1682496"/>
            <a:ext cx="68580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24" name="Text 21"/>
          <p:cNvSpPr/>
          <p:nvPr/>
        </p:nvSpPr>
        <p:spPr>
          <a:xfrm>
            <a:off x="6894576" y="2423160"/>
            <a:ext cx="182880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Obtén Tu Código QR</a:t>
            </a:r>
            <a:endParaRPr lang="en-US" sz="1400" dirty="0"/>
          </a:p>
        </p:txBody>
      </p:sp>
      <p:sp>
        <p:nvSpPr>
          <p:cNvPr id="25" name="Text 22"/>
          <p:cNvSpPr/>
          <p:nvPr/>
        </p:nvSpPr>
        <p:spPr>
          <a:xfrm>
            <a:off x="6894576" y="2926080"/>
            <a:ext cx="1828800" cy="1234440"/>
          </a:xfrm>
          <a:prstGeom prst="rect">
            <a:avLst/>
          </a:prstGeom>
          <a:noFill/>
          <a:ln/>
        </p:spPr>
        <p:txBody>
          <a:bodyPr wrap="square" lIns="0" tIns="0" rIns="0" bIns="0" rtlCol="0" anchor="ctr"/>
          <a:lstStyle/>
          <a:p>
            <a:pPr algn="ctr" indent="0" marL="0">
              <a:buNone/>
            </a:pPr>
            <a:r>
              <a:rPr lang="en-US" sz="1100" dirty="0">
                <a:solidFill>
                  <a:srgbClr val="AABDCE"/>
                </a:solidFill>
                <a:latin typeface="Calibri" pitchFamily="34" charset="0"/>
                <a:ea typeface="Calibri" pitchFamily="34" charset="-122"/>
                <a:cs typeface="Calibri" pitchFamily="34" charset="-120"/>
              </a:rPr>
              <a:t>Se te enviará un código QR personalizado por correo. Guárdalo en tu teléfono.</a:t>
            </a:r>
            <a:endParaRPr lang="en-US" sz="1100" dirty="0"/>
          </a:p>
        </p:txBody>
      </p:sp>
      <p:sp>
        <p:nvSpPr>
          <p:cNvPr id="26" name="Shape 23"/>
          <p:cNvSpPr/>
          <p:nvPr/>
        </p:nvSpPr>
        <p:spPr>
          <a:xfrm>
            <a:off x="0" y="4663440"/>
            <a:ext cx="9144000" cy="480060"/>
          </a:xfrm>
          <a:prstGeom prst="rect">
            <a:avLst/>
          </a:prstGeom>
          <a:solidFill>
            <a:srgbClr val="1B2A4A"/>
          </a:solidFill>
          <a:ln w="12700">
            <a:solidFill>
              <a:srgbClr val="1B2A4A"/>
            </a:solidFill>
            <a:prstDash val="solid"/>
          </a:ln>
        </p:spPr>
      </p:sp>
      <p:sp>
        <p:nvSpPr>
          <p:cNvPr id="27" name="Text 24"/>
          <p:cNvSpPr/>
          <p:nvPr/>
        </p:nvSpPr>
        <p:spPr>
          <a:xfrm>
            <a:off x="0" y="4736592"/>
            <a:ext cx="9144000" cy="320040"/>
          </a:xfrm>
          <a:prstGeom prst="rect">
            <a:avLst/>
          </a:prstGeom>
          <a:noFill/>
          <a:ln/>
        </p:spPr>
        <p:txBody>
          <a:bodyPr wrap="square" lIns="0" tIns="0" rIns="0" bIns="0" rtlCol="0" anchor="ctr"/>
          <a:lstStyle/>
          <a:p>
            <a:pPr algn="ctr" indent="0" marL="0">
              <a:buNone/>
            </a:pPr>
            <a:r>
              <a:rPr lang="en-US" sz="1000" dirty="0">
                <a:solidFill>
                  <a:srgbClr val="8C9BAB"/>
                </a:solidFill>
                <a:latin typeface="Calibri" pitchFamily="34" charset="0"/>
                <a:ea typeface="Calibri" pitchFamily="34" charset="-122"/>
                <a:cs typeface="Calibri" pitchFamily="34" charset="-120"/>
              </a:rPr>
              <a:t>Safe Set Standards  •  Comunidad TFP — Área de la Bahía</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p:bgPr>
    </p:bg>
    <p:spTree>
      <p:nvGrpSpPr>
        <p:cNvPr id="1" name=""/>
        <p:cNvGrpSpPr/>
        <p:nvPr/>
      </p:nvGrpSpPr>
      <p:grpSpPr>
        <a:xfrm>
          <a:off x="0" y="0"/>
          <a:ext cx="0" cy="0"/>
          <a:chOff x="0" y="0"/>
          <a:chExt cx="0" cy="0"/>
        </a:xfrm>
      </p:grpSpPr>
      <p:sp>
        <p:nvSpPr>
          <p:cNvPr id="3" name="Shape 0"/>
          <p:cNvSpPr/>
          <p:nvPr/>
        </p:nvSpPr>
        <p:spPr>
          <a:xfrm>
            <a:off x="0" y="4572000"/>
            <a:ext cx="9144000" cy="571500"/>
          </a:xfrm>
          <a:prstGeom prst="rect">
            <a:avLst/>
          </a:prstGeom>
          <a:solidFill>
            <a:srgbClr val="0D7377"/>
          </a:solidFill>
          <a:ln w="12700">
            <a:solidFill>
              <a:srgbClr val="0D7377"/>
            </a:solidFill>
            <a:prstDash val="solid"/>
          </a:ln>
        </p:spPr>
      </p:sp>
      <p:sp>
        <p:nvSpPr>
          <p:cNvPr id="4" name="Shape 1"/>
          <p:cNvSpPr/>
          <p:nvPr/>
        </p:nvSpPr>
        <p:spPr>
          <a:xfrm>
            <a:off x="0" y="0"/>
            <a:ext cx="164592" cy="4572000"/>
          </a:xfrm>
          <a:prstGeom prst="rect">
            <a:avLst/>
          </a:prstGeom>
          <a:solidFill>
            <a:srgbClr val="0D7377"/>
          </a:solidFill>
          <a:ln w="12700">
            <a:solidFill>
              <a:srgbClr val="0D7377"/>
            </a:solidFill>
            <a:prstDash val="solid"/>
          </a:ln>
        </p:spPr>
      </p:sp>
      <p:pic>
        <p:nvPicPr>
          <p:cNvPr id="5" name="Image 0" descr="preencoded.png">    </p:cNvPr>
          <p:cNvPicPr>
            <a:picLocks noChangeAspect="1"/>
          </p:cNvPicPr>
          <p:nvPr/>
        </p:nvPicPr>
        <p:blipFill>
          <a:blip r:embed="rId1"/>
          <a:stretch>
            <a:fillRect/>
          </a:stretch>
        </p:blipFill>
        <p:spPr>
          <a:xfrm>
            <a:off x="7315200" y="548640"/>
            <a:ext cx="1280160" cy="1280160"/>
          </a:xfrm>
          <a:prstGeom prst="rect">
            <a:avLst/>
          </a:prstGeom>
        </p:spPr>
      </p:pic>
      <p:sp>
        <p:nvSpPr>
          <p:cNvPr id="6" name="Text 2"/>
          <p:cNvSpPr/>
          <p:nvPr/>
        </p:nvSpPr>
        <p:spPr>
          <a:xfrm>
            <a:off x="457200" y="914400"/>
            <a:ext cx="68580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Black" pitchFamily="34" charset="0"/>
                <a:ea typeface="Arial Black" pitchFamily="34" charset="-122"/>
                <a:cs typeface="Arial Black" pitchFamily="34" charset="-120"/>
              </a:rPr>
              <a:t>Ahora ve a crear algo increíble.</a:t>
            </a:r>
            <a:endParaRPr lang="en-US" sz="3800" dirty="0"/>
          </a:p>
        </p:txBody>
      </p:sp>
      <p:sp>
        <p:nvSpPr>
          <p:cNvPr id="7" name="Text 3"/>
          <p:cNvSpPr/>
          <p:nvPr/>
        </p:nvSpPr>
        <p:spPr>
          <a:xfrm>
            <a:off x="457200" y="1920240"/>
            <a:ext cx="6858000" cy="1097280"/>
          </a:xfrm>
          <a:prstGeom prst="rect">
            <a:avLst/>
          </a:prstGeom>
          <a:noFill/>
          <a:ln/>
        </p:spPr>
        <p:txBody>
          <a:bodyPr wrap="square" lIns="0" tIns="0" rIns="0" bIns="0" rtlCol="0" anchor="ctr"/>
          <a:lstStyle/>
          <a:p>
            <a:pPr indent="0" marL="0">
              <a:buNone/>
            </a:pPr>
            <a:r>
              <a:rPr lang="en-US" sz="1800" dirty="0">
                <a:solidFill>
                  <a:srgbClr val="AABDCE"/>
                </a:solidFill>
                <a:latin typeface="Calibri" pitchFamily="34" charset="0"/>
                <a:ea typeface="Calibri" pitchFamily="34" charset="-122"/>
                <a:cs typeface="Calibri" pitchFamily="34" charset="-120"/>
              </a:rPr>
              <a:t>Aceptaste los estándares.</a:t>
            </a:r>
            <a:endParaRPr lang="en-US" sz="1800" dirty="0"/>
          </a:p>
          <a:p>
            <a:pPr indent="0" marL="0">
              <a:buNone/>
            </a:pPr>
            <a:r>
              <a:rPr lang="en-US" sz="1800" dirty="0">
                <a:solidFill>
                  <a:srgbClr val="AABDCE"/>
                </a:solidFill>
                <a:latin typeface="Calibri" pitchFamily="34" charset="0"/>
                <a:ea typeface="Calibri" pitchFamily="34" charset="-122"/>
                <a:cs typeface="Calibri" pitchFamily="34" charset="-120"/>
              </a:rPr>
              <a:t>Sabes qué se espera.</a:t>
            </a:r>
            <a:endParaRPr lang="en-US" sz="1800" dirty="0"/>
          </a:p>
          <a:p>
            <a:pPr indent="0" marL="0">
              <a:buNone/>
            </a:pPr>
            <a:r>
              <a:rPr lang="en-US" sz="1800" dirty="0">
                <a:solidFill>
                  <a:srgbClr val="AABDCE"/>
                </a:solidFill>
                <a:latin typeface="Calibri" pitchFamily="34" charset="0"/>
                <a:ea typeface="Calibri" pitchFamily="34" charset="-122"/>
                <a:cs typeface="Calibri" pitchFamily="34" charset="-120"/>
              </a:rPr>
              <a:t>El resto es creatividad.</a:t>
            </a:r>
            <a:endParaRPr lang="en-US" sz="1800" dirty="0"/>
          </a:p>
        </p:txBody>
      </p:sp>
      <p:sp>
        <p:nvSpPr>
          <p:cNvPr id="8" name="Text 4"/>
          <p:cNvSpPr/>
          <p:nvPr/>
        </p:nvSpPr>
        <p:spPr>
          <a:xfrm>
            <a:off x="457200" y="3200400"/>
            <a:ext cx="6858000" cy="502920"/>
          </a:xfrm>
          <a:prstGeom prst="rect">
            <a:avLst/>
          </a:prstGeom>
          <a:noFill/>
          <a:ln/>
        </p:spPr>
        <p:txBody>
          <a:bodyPr wrap="square" lIns="0" tIns="0" rIns="0" bIns="0" rtlCol="0" anchor="ctr"/>
          <a:lstStyle/>
          <a:p>
            <a:pPr indent="0" marL="0">
              <a:buNone/>
            </a:pPr>
            <a:r>
              <a:rPr lang="en-US" sz="1400" i="1" dirty="0">
                <a:solidFill>
                  <a:srgbClr val="14FFEC"/>
                </a:solidFill>
                <a:latin typeface="Calibri" pitchFamily="34" charset="0"/>
                <a:ea typeface="Calibri" pitchFamily="34" charset="-122"/>
                <a:cs typeface="Calibri" pitchFamily="34" charset="-120"/>
              </a:rPr>
              <a:t>Sin código QR = Sin entrada. Firma al final de este video para recibir el tuyo.</a:t>
            </a:r>
            <a:endParaRPr lang="en-US" sz="1400" dirty="0"/>
          </a:p>
        </p:txBody>
      </p:sp>
      <p:sp>
        <p:nvSpPr>
          <p:cNvPr id="9" name="Text 5"/>
          <p:cNvSpPr/>
          <p:nvPr/>
        </p:nvSpPr>
        <p:spPr>
          <a:xfrm>
            <a:off x="274320" y="4663440"/>
            <a:ext cx="859536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Bienvenido/a a una comunidad creativa más segura y profesional.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Estándares de Set Seguro — Comunidad TFP Área de la Bahía</dc:title>
  <dc:subject>PptxGenJS Presentation</dc:subject>
  <dc:creator>PptxGenJS</dc:creator>
  <cp:lastModifiedBy>PptxGenJS</cp:lastModifiedBy>
  <cp:revision>1</cp:revision>
  <dcterms:created xsi:type="dcterms:W3CDTF">2026-04-09T00:58:28Z</dcterms:created>
  <dcterms:modified xsi:type="dcterms:W3CDTF">2026-04-09T00:58:28Z</dcterms:modified>
</cp:coreProperties>
</file>