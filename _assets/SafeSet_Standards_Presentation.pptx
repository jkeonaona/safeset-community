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If you're watching this, you're either a photographer or a model who wants to participate in a Bay Area TFP event — and that's great.
TFP — trade for print — is a long-standing tradition in the photography community. Photographers build their portfolio, models get professional images, and everybody walks away with something valuable. At its best, it's a genuinely collaborative creative experience.
But like anything that brings together strangers in a creative and sometimes physical space, it works a lot better when everyone walks in on the same page. That's what this is.
This isn't about distrust. It's not about assuming the worst in people. It's about establishing a shared professional baseline — so that photographers can focus on their craft, models can focus on their performance, and nobody has to wonder where the line is. When the lines are clear up front, the whole experience is better for everyone.
This video covers the standards that both photographers and models agree to before participating in any community event. It applies equally to both sides — no exceptions. At the end, you'll be asked to sign a simple agreement confirming you watched this and understand what's expected. That signature goes to the event organizer, and it's your entry into the event.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your role as a photographer. You're the one with the equipment. You're the one directing the shoot. That puts you in a position of authority — and with that comes responsibility.
Rule number one: You do not touch the model. Ever. Not to fix their hair. Not to adjust their posture. Not to move their chin. Not to straighten their collar.
If you need a model in a specific position, you have three options. First — describe it verbally. Clearly and professionally. Second — demonstrate it yourself. Show them the pose and let them mirror you. Third — if neither works, ask a same-sex assistant or the model's parent or companion to make the adjustment.
That's it. Those are your options. There is no scenario where your hands on a model is acceptable.
This isn't just about protecting the model. It protects you. The moment you make physical contact without clear prior consent, you've created a situation that can be misread, misrepresented, or escalated — regardless of your intent.
Those are your three options. There is no fourth.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minors are involved, the standard is even higher.
A parent or legal guardian must be present on-set and actively present — not in the parking lot, not on their phone at a picnic table. On-set. Watching. Engaged. If a parent is not present and attentive, the shoot does not happen. Full stop.
Do not share, post, or distribute any images from a shoot without the model's explicit agreement. For minors, that agreement must come from the parent or guardian in writing. Posting without permission isn't just disrespectful — it can have legal consequences.
Speak to your model like a professional. Be clear about what you're going for. Check in — ask if they're comfortable, if they understand the direction, if they need a break. The best photographers make their subjects feel safe and confident. That's not soft — that's skill.
If you violate any of these standards, you are subject to removal from the group — no appeals, no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to the models. Everything you just heard about respect and professionalism — it goes both ways. A safe set is everyone's responsibility, not just the photographer's. You are a creative professional participating in a collaborative project. That means you bring the same level of professionalism to the shoot that you expect to receive.
No unsolicited physical contact. Do not initiate physical contact with the photographer, other photographers present, or crew. That means no touching their equipment without permission, no grabbing their arm to show them what you want, and no physical gestures that cross into personal space uninvited. If a photographer is maintaining professional distance and boundaries — that's not coldness, that's respect. Match it.
If you want to redirect the creative direction, say so verbally. Don't demonstrate it physically on the photographer.
If the agreed concept starts shifting in a direction you're not comfortable with, you have every right to say so and redirect. Verbally. Clearly. Professionally.
You can stop the shoot at any time. If something feels wrong — the direction, the environment, the behavior of anyone present — you have the right to pause or end the shoot. No explanation required. Simply say you need to stop. This right exists for photographers too. It goes both ways.
Your voice is your most important tool on set —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you've heard what's expected of photographers and what's expected of models. This section is about what's expected of everyone — because a safe, professional creative environment is a shared responsibility.
Mutual respect is non-negotiable. It doesn't matter your experience level, your follower count, your portfolio size, or how many shoots you've done. Every person on set deserves to be treated with basic human respect. Condescension, intimidation, dismissiveness — none of that has a place here.
If something happens that makes you uncomfortable — here's what you do. First, say something. Directly and calmly. "I'm not comfortable with that" is a complete sentence. You don't need to justify it. Second, if that doesn't resolve it — stop the shoot. Walk away. Third, report it. Tell the event organizer what happened, when, and who was involved. Be specific. The community can only self-correct when issues are reported.
Zero tolerance for retaliation — online or in person. Handle it through the organizer. Period.
This group brings together people from many different backgrounds. What feels normal to one person may feel invasive to another. When in doubt,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clear about consequences. The following will result in immediate removal from the community, with no appeal.
Any unwanted physical contact. Any inappropriate conduct involving a minor. Retaliation against someone who raised a concern. Distribution of images without consent. Harassment of any kind — online or in person.
This isn't about policing creativity. It's about making sure everyone goes home feeling good about what they made and who they made it with. No appeals. No exceptions.
Nobody posts, shares, sells, or distributes images without the other party's knowledge and agreement. For minors, written parental consent is required before any image sees the light of day — social media, portfolios, websites,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made it to the end — and that matters. It means you took the time to understand what this community expects of you, and what you can expect from everyone around you.
If you're a photographer — you direct with words, not hands. You respect every model as a professional. You follow heightened standards the moment a minor is involved. You do not distribute images without consent.
If you're a model — you bring the same professionalism you expect to receive. You maintain appropriate boundaries. You communicate verbally. You can stop any shoot at any time.
If you're a parent or guardian — your presence on set is not optional. It is the condition under which your minor participates. Active, attentive, and available the entire time.
Respect is the floor, not the ceiling. These standards are the minimum.
Register your name, email, and role at the link in the group post. Complete this video in full. Check the acknowledgment box. You'll receive a personalized QR code by email. Save it to your phone.
No QR code — no entry. No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go make something great.
You've agreed to the standards. You know what's expected. The rest is creativity.
Welcome to a safer, more professional creative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3" name="Shape 0"/>
          <p:cNvSpPr/>
          <p:nvPr/>
        </p:nvSpPr>
        <p:spPr>
          <a:xfrm>
            <a:off x="0" y="0"/>
            <a:ext cx="164592" cy="5143500"/>
          </a:xfrm>
          <a:prstGeom prst="rect">
            <a:avLst/>
          </a:prstGeom>
          <a:solidFill>
            <a:srgbClr val="0D7377"/>
          </a:solidFill>
          <a:ln w="12700">
            <a:solidFill>
              <a:srgbClr val="0D7377"/>
            </a:solidFill>
            <a:prstDash val="solid"/>
          </a:ln>
        </p:spPr>
      </p:sp>
      <p:sp>
        <p:nvSpPr>
          <p:cNvPr id="4" name="Shape 1"/>
          <p:cNvSpPr/>
          <p:nvPr/>
        </p:nvSpPr>
        <p:spPr>
          <a:xfrm>
            <a:off x="0" y="4572000"/>
            <a:ext cx="9144000" cy="571500"/>
          </a:xfrm>
          <a:prstGeom prst="rect">
            <a:avLst/>
          </a:prstGeom>
          <a:solidFill>
            <a:srgbClr val="0D7377"/>
          </a:solidFill>
          <a:ln w="12700">
            <a:solidFill>
              <a:srgbClr val="0D7377"/>
            </a:solidFill>
            <a:prstDash val="solid"/>
          </a:ln>
        </p:spPr>
      </p:sp>
      <p:pic>
        <p:nvPicPr>
          <p:cNvPr id="5" name="Image 0" descr="preencoded.png">    </p:cNvPr>
          <p:cNvPicPr>
            <a:picLocks noChangeAspect="1"/>
          </p:cNvPicPr>
          <p:nvPr/>
        </p:nvPicPr>
        <p:blipFill>
          <a:blip r:embed="rId1"/>
          <a:stretch>
            <a:fillRect/>
          </a:stretch>
        </p:blipFill>
        <p:spPr>
          <a:xfrm>
            <a:off x="7132320" y="548640"/>
            <a:ext cx="1463040" cy="1463040"/>
          </a:xfrm>
          <a:prstGeom prst="rect">
            <a:avLst/>
          </a:prstGeom>
        </p:spPr>
      </p:pic>
      <p:sp>
        <p:nvSpPr>
          <p:cNvPr id="6" name="Text 2"/>
          <p:cNvSpPr/>
          <p:nvPr/>
        </p:nvSpPr>
        <p:spPr>
          <a:xfrm>
            <a:off x="457200" y="1097280"/>
            <a:ext cx="6400800" cy="822960"/>
          </a:xfrm>
          <a:prstGeom prst="rect">
            <a:avLst/>
          </a:prstGeom>
          <a:noFill/>
          <a:ln/>
        </p:spPr>
        <p:txBody>
          <a:bodyPr wrap="square" lIns="0" tIns="0" rIns="0" bIns="0" rtlCol="0" anchor="ctr"/>
          <a:lstStyle/>
          <a:p>
            <a:pPr indent="0" marL="0">
              <a:buNone/>
            </a:pPr>
            <a:r>
              <a:rPr lang="en-US" sz="4000" b="1" spc="400" kern="0" dirty="0">
                <a:solidFill>
                  <a:srgbClr val="FFFFFF"/>
                </a:solidFill>
                <a:latin typeface="Arial Black" pitchFamily="34" charset="0"/>
                <a:ea typeface="Arial Black" pitchFamily="34" charset="-122"/>
                <a:cs typeface="Arial Black" pitchFamily="34" charset="-120"/>
              </a:rPr>
              <a:t>SAFE SET STANDARDS</a:t>
            </a:r>
            <a:endParaRPr lang="en-US" sz="4000" dirty="0"/>
          </a:p>
        </p:txBody>
      </p:sp>
      <p:sp>
        <p:nvSpPr>
          <p:cNvPr id="7" name="Text 3"/>
          <p:cNvSpPr/>
          <p:nvPr/>
        </p:nvSpPr>
        <p:spPr>
          <a:xfrm>
            <a:off x="457200" y="1965960"/>
            <a:ext cx="6400800" cy="457200"/>
          </a:xfrm>
          <a:prstGeom prst="rect">
            <a:avLst/>
          </a:prstGeom>
          <a:noFill/>
          <a:ln/>
        </p:spPr>
        <p:txBody>
          <a:bodyPr wrap="square" lIns="0" tIns="0" rIns="0" bIns="0" rtlCol="0" anchor="ctr"/>
          <a:lstStyle/>
          <a:p>
            <a:pPr indent="0" marL="0">
              <a:buNone/>
            </a:pPr>
            <a:r>
              <a:rPr lang="en-US" sz="2200" dirty="0">
                <a:solidFill>
                  <a:srgbClr val="14FFEC"/>
                </a:solidFill>
                <a:latin typeface="Calibri" pitchFamily="34" charset="0"/>
                <a:ea typeface="Calibri" pitchFamily="34" charset="-122"/>
                <a:cs typeface="Calibri" pitchFamily="34" charset="-120"/>
              </a:rPr>
              <a:t>Bay Area TFP Community</a:t>
            </a:r>
            <a:endParaRPr lang="en-US" sz="2200" dirty="0"/>
          </a:p>
        </p:txBody>
      </p:sp>
      <p:sp>
        <p:nvSpPr>
          <p:cNvPr id="8" name="Text 4"/>
          <p:cNvSpPr/>
          <p:nvPr/>
        </p:nvSpPr>
        <p:spPr>
          <a:xfrm>
            <a:off x="457200" y="2606040"/>
            <a:ext cx="6858000" cy="822960"/>
          </a:xfrm>
          <a:prstGeom prst="rect">
            <a:avLst/>
          </a:prstGeom>
          <a:noFill/>
          <a:ln/>
        </p:spPr>
        <p:txBody>
          <a:bodyPr wrap="square" lIns="0" tIns="0" rIns="0" bIns="0" rtlCol="0" anchor="ctr"/>
          <a:lstStyle/>
          <a:p>
            <a:pPr indent="0" marL="0">
              <a:buNone/>
            </a:pPr>
            <a:r>
              <a:rPr lang="en-US" sz="1500" dirty="0">
                <a:solidFill>
                  <a:srgbClr val="AABDCE"/>
                </a:solidFill>
                <a:latin typeface="Calibri" pitchFamily="34" charset="0"/>
                <a:ea typeface="Calibri" pitchFamily="34" charset="-122"/>
                <a:cs typeface="Calibri" pitchFamily="34" charset="-120"/>
              </a:rPr>
              <a:t>A shared professional standard for photographers,</a:t>
            </a:r>
            <a:endParaRPr lang="en-US" sz="1500" dirty="0"/>
          </a:p>
          <a:p>
            <a:pPr indent="0" marL="0">
              <a:buNone/>
            </a:pPr>
            <a:r>
              <a:rPr lang="en-US" sz="1500" dirty="0">
                <a:solidFill>
                  <a:srgbClr val="AABDCE"/>
                </a:solidFill>
                <a:latin typeface="Calibri" pitchFamily="34" charset="0"/>
                <a:ea typeface="Calibri" pitchFamily="34" charset="-122"/>
                <a:cs typeface="Calibri" pitchFamily="34" charset="-120"/>
              </a:rPr>
              <a:t>models, and everyone on set.</a:t>
            </a:r>
            <a:endParaRPr lang="en-US" sz="1500" dirty="0"/>
          </a:p>
        </p:txBody>
      </p:sp>
      <p:sp>
        <p:nvSpPr>
          <p:cNvPr id="9" name="Text 5"/>
          <p:cNvSpPr/>
          <p:nvPr/>
        </p:nvSpPr>
        <p:spPr>
          <a:xfrm>
            <a:off x="274320" y="4663440"/>
            <a:ext cx="85953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Models and Photographers San Francisco Bay Area  •  TFP, Collab, Free, Paid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7377"/>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01</a:t>
            </a:r>
            <a:endParaRPr lang="en-US" sz="8000" dirty="0"/>
          </a:p>
        </p:txBody>
      </p:sp>
      <p:sp>
        <p:nvSpPr>
          <p:cNvPr id="4" name="Text 1"/>
          <p:cNvSpPr/>
          <p:nvPr/>
        </p:nvSpPr>
        <p:spPr>
          <a:xfrm>
            <a:off x="365760" y="1280160"/>
            <a:ext cx="8229600" cy="640080"/>
          </a:xfrm>
          <a:prstGeom prst="rect">
            <a:avLst/>
          </a:prstGeom>
          <a:noFill/>
          <a:ln/>
        </p:spPr>
        <p:txBody>
          <a:bodyPr wrap="square" lIns="0" tIns="0" rIns="0" bIns="0" rtlCol="0" anchor="ctr"/>
          <a:lstStyle/>
          <a:p>
            <a:pPr indent="0" marL="0">
              <a:buNone/>
            </a:pPr>
            <a:r>
              <a:rPr lang="en-US" sz="3600" b="1" spc="600" kern="0" dirty="0">
                <a:solidFill>
                  <a:srgbClr val="FFFFFF"/>
                </a:solidFill>
                <a:latin typeface="Arial Black" pitchFamily="34" charset="0"/>
                <a:ea typeface="Arial Black" pitchFamily="34" charset="-122"/>
                <a:cs typeface="Arial Black" pitchFamily="34" charset="-120"/>
              </a:rPr>
              <a:t>INTRODUCTION</a:t>
            </a:r>
            <a:endParaRPr lang="en-US" sz="3600" dirty="0"/>
          </a:p>
        </p:txBody>
      </p:sp>
      <p:sp>
        <p:nvSpPr>
          <p:cNvPr id="5" name="Text 2"/>
          <p:cNvSpPr/>
          <p:nvPr/>
        </p:nvSpPr>
        <p:spPr>
          <a:xfrm>
            <a:off x="365760" y="2011680"/>
            <a:ext cx="8229600" cy="457200"/>
          </a:xfrm>
          <a:prstGeom prst="rect">
            <a:avLst/>
          </a:prstGeom>
          <a:noFill/>
          <a:ln/>
        </p:spPr>
        <p:txBody>
          <a:bodyPr wrap="square" lIns="0" tIns="0" rIns="0" bIns="0" rtlCol="0" anchor="ctr"/>
          <a:lstStyle/>
          <a:p>
            <a:pPr indent="0" marL="0">
              <a:buNone/>
            </a:pPr>
            <a:r>
              <a:rPr lang="en-US" sz="1800" dirty="0">
                <a:solidFill>
                  <a:srgbClr val="D0F0ED"/>
                </a:solidFill>
                <a:latin typeface="Calibri" pitchFamily="34" charset="0"/>
                <a:ea typeface="Calibri" pitchFamily="34" charset="-122"/>
                <a:cs typeface="Calibri" pitchFamily="34" charset="-120"/>
              </a:rPr>
              <a:t>What this is — and why it matters.</a:t>
            </a:r>
            <a:endParaRPr lang="en-US" sz="1800" dirty="0"/>
          </a:p>
        </p:txBody>
      </p:sp>
      <p:sp>
        <p:nvSpPr>
          <p:cNvPr id="6" name="Shape 3"/>
          <p:cNvSpPr/>
          <p:nvPr/>
        </p:nvSpPr>
        <p:spPr>
          <a:xfrm>
            <a:off x="0" y="4572000"/>
            <a:ext cx="9144000" cy="571500"/>
          </a:xfrm>
          <a:prstGeom prst="rect">
            <a:avLst/>
          </a:prstGeom>
          <a:solidFill>
            <a:srgbClr val="1B2A4A"/>
          </a:solidFill>
          <a:ln w="12700">
            <a:solidFill>
              <a:srgbClr val="1B2A4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45720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INTRODUCTION</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What is TFP — and Why This Exists</a:t>
            </a:r>
            <a:endParaRPr lang="en-US" sz="2800" dirty="0"/>
          </a:p>
        </p:txBody>
      </p:sp>
      <p:sp>
        <p:nvSpPr>
          <p:cNvPr id="6" name="Text 3"/>
          <p:cNvSpPr/>
          <p:nvPr/>
        </p:nvSpPr>
        <p:spPr>
          <a:xfrm>
            <a:off x="365760" y="1508760"/>
            <a:ext cx="4937760" cy="1005840"/>
          </a:xfrm>
          <a:prstGeom prst="rect">
            <a:avLst/>
          </a:prstGeom>
          <a:noFill/>
          <a:ln/>
        </p:spPr>
        <p:txBody>
          <a:bodyPr wrap="square" lIns="0" tIns="0" rIns="0" bIns="0"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Trade for Print (TFP) </a:t>
            </a:r>
            <a:pPr indent="0" marL="0">
              <a:buNone/>
            </a:pPr>
            <a:r>
              <a:rPr lang="en-US" sz="1400" dirty="0">
                <a:solidFill>
                  <a:srgbClr val="111827"/>
                </a:solidFill>
                <a:latin typeface="Calibri" pitchFamily="34" charset="0"/>
                <a:ea typeface="Calibri" pitchFamily="34" charset="-122"/>
                <a:cs typeface="Calibri" pitchFamily="34" charset="-120"/>
              </a:rPr>
              <a:t>is a long-standing tradition where photographers and models collaborate — photographers build portfolios, models get professional images.</a:t>
            </a:r>
            <a:endParaRPr lang="en-US" sz="1400" dirty="0"/>
          </a:p>
        </p:txBody>
      </p:sp>
      <p:sp>
        <p:nvSpPr>
          <p:cNvPr id="7" name="Text 4"/>
          <p:cNvSpPr/>
          <p:nvPr/>
        </p:nvSpPr>
        <p:spPr>
          <a:xfrm>
            <a:off x="365760" y="2651760"/>
            <a:ext cx="4937760" cy="1280160"/>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At its best, it's a genuinely creative exchange. But when strangers meet in a creative and physical space, it works better when everyone walks in on the same page.</a:t>
            </a:r>
            <a:endParaRPr lang="en-US" sz="1400" dirty="0"/>
          </a:p>
          <a:p>
            <a:pPr indent="0" marL="0">
              <a:buNone/>
            </a:pPr>
            <a:endParaRPr lang="en-US" sz="1400" dirty="0"/>
          </a:p>
          <a:p>
            <a:pPr indent="0" marL="0">
              <a:buNone/>
            </a:pPr>
            <a:r>
              <a:rPr lang="en-US" sz="1400" dirty="0">
                <a:solidFill>
                  <a:srgbClr val="111827"/>
                </a:solidFill>
                <a:latin typeface="Calibri" pitchFamily="34" charset="0"/>
                <a:ea typeface="Calibri" pitchFamily="34" charset="-122"/>
                <a:cs typeface="Calibri" pitchFamily="34" charset="-120"/>
              </a:rPr>
              <a:t>That's what this is.</a:t>
            </a:r>
            <a:endParaRPr lang="en-US" sz="1400" dirty="0"/>
          </a:p>
        </p:txBody>
      </p:sp>
      <p:sp>
        <p:nvSpPr>
          <p:cNvPr id="8" name="Shape 5"/>
          <p:cNvSpPr/>
          <p:nvPr/>
        </p:nvSpPr>
        <p:spPr>
          <a:xfrm>
            <a:off x="5760720" y="1371600"/>
            <a:ext cx="3017520" cy="265176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9" name="Image 0" descr="preencoded.png">    </p:cNvPr>
          <p:cNvPicPr>
            <a:picLocks noChangeAspect="1"/>
          </p:cNvPicPr>
          <p:nvPr/>
        </p:nvPicPr>
        <p:blipFill>
          <a:blip r:embed="rId1"/>
          <a:stretch>
            <a:fillRect/>
          </a:stretch>
        </p:blipFill>
        <p:spPr>
          <a:xfrm>
            <a:off x="6858000" y="1600200"/>
            <a:ext cx="822960" cy="822960"/>
          </a:xfrm>
          <a:prstGeom prst="rect">
            <a:avLst/>
          </a:prstGeom>
        </p:spPr>
      </p:pic>
      <p:sp>
        <p:nvSpPr>
          <p:cNvPr id="10" name="Text 6"/>
          <p:cNvSpPr/>
          <p:nvPr/>
        </p:nvSpPr>
        <p:spPr>
          <a:xfrm>
            <a:off x="5943600" y="2514600"/>
            <a:ext cx="26517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This is NOT about</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distrust.</a:t>
            </a:r>
            <a:endParaRPr lang="en-US" sz="1600" dirty="0"/>
          </a:p>
        </p:txBody>
      </p:sp>
      <p:sp>
        <p:nvSpPr>
          <p:cNvPr id="11" name="Text 7"/>
          <p:cNvSpPr/>
          <p:nvPr/>
        </p:nvSpPr>
        <p:spPr>
          <a:xfrm>
            <a:off x="5943600" y="3154680"/>
            <a:ext cx="2651760" cy="640080"/>
          </a:xfrm>
          <a:prstGeom prst="rect">
            <a:avLst/>
          </a:prstGeom>
          <a:noFill/>
          <a:ln/>
        </p:spPr>
        <p:txBody>
          <a:bodyPr wrap="square" lIns="0" tIns="0" rIns="0" bIns="0" rtlCol="0" anchor="ctr"/>
          <a:lstStyle/>
          <a:p>
            <a:pPr algn="ctr" indent="0" marL="0">
              <a:buNone/>
            </a:pPr>
            <a:r>
              <a:rPr lang="en-US" sz="1300" dirty="0">
                <a:solidFill>
                  <a:srgbClr val="AABDCE"/>
                </a:solidFill>
                <a:latin typeface="Calibri" pitchFamily="34" charset="0"/>
                <a:ea typeface="Calibri" pitchFamily="34" charset="-122"/>
                <a:cs typeface="Calibri" pitchFamily="34" charset="-120"/>
              </a:rPr>
              <a:t>It's about a shared</a:t>
            </a:r>
            <a:endParaRPr lang="en-US" sz="1300" dirty="0"/>
          </a:p>
          <a:p>
            <a:pPr algn="ctr" indent="0" marL="0">
              <a:buNone/>
            </a:pPr>
            <a:r>
              <a:rPr lang="en-US" sz="1300" dirty="0">
                <a:solidFill>
                  <a:srgbClr val="AABDCE"/>
                </a:solidFill>
                <a:latin typeface="Calibri" pitchFamily="34" charset="0"/>
                <a:ea typeface="Calibri" pitchFamily="34" charset="-122"/>
                <a:cs typeface="Calibri" pitchFamily="34" charset="-120"/>
              </a:rPr>
              <a:t>professional baseline.</a:t>
            </a:r>
            <a:endParaRPr lang="en-US" sz="1300" dirty="0"/>
          </a:p>
        </p:txBody>
      </p:sp>
      <p:sp>
        <p:nvSpPr>
          <p:cNvPr id="12" name="Shape 8"/>
          <p:cNvSpPr/>
          <p:nvPr/>
        </p:nvSpPr>
        <p:spPr>
          <a:xfrm>
            <a:off x="0" y="4663440"/>
            <a:ext cx="9144000" cy="480060"/>
          </a:xfrm>
          <a:prstGeom prst="rect">
            <a:avLst/>
          </a:prstGeom>
          <a:solidFill>
            <a:srgbClr val="1B2A4A"/>
          </a:solidFill>
          <a:ln w="12700">
            <a:solidFill>
              <a:srgbClr val="1B2A4A"/>
            </a:solidFill>
            <a:prstDash val="solid"/>
          </a:ln>
        </p:spPr>
      </p:sp>
      <p:sp>
        <p:nvSpPr>
          <p:cNvPr id="13" name="Text 9"/>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02</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PHOTOGRAPHER</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STANDARDS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AABDCE"/>
                </a:solidFill>
                <a:latin typeface="Calibri" pitchFamily="34" charset="0"/>
                <a:ea typeface="Calibri" pitchFamily="34" charset="-122"/>
                <a:cs typeface="Calibri" pitchFamily="34" charset="-120"/>
              </a:rPr>
              <a:t>Your role, your responsibility.</a:t>
            </a:r>
            <a:endParaRPr lang="en-US" sz="1800" dirty="0"/>
          </a:p>
        </p:txBody>
      </p:sp>
      <p:sp>
        <p:nvSpPr>
          <p:cNvPr id="6" name="Shape 3"/>
          <p:cNvSpPr/>
          <p:nvPr/>
        </p:nvSpPr>
        <p:spPr>
          <a:xfrm>
            <a:off x="0" y="4572000"/>
            <a:ext cx="9144000" cy="571500"/>
          </a:xfrm>
          <a:prstGeom prst="rect">
            <a:avLst/>
          </a:prstGeom>
          <a:solidFill>
            <a:srgbClr val="0D7377"/>
          </a:solidFill>
          <a:ln w="12700">
            <a:solidFill>
              <a:srgbClr val="0D7377"/>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PHOTOGRAPHER STANDARDS</a:t>
            </a:r>
            <a:endParaRPr lang="en-US" sz="1300" dirty="0"/>
          </a:p>
        </p:txBody>
      </p:sp>
      <p:sp>
        <p:nvSpPr>
          <p:cNvPr id="5" name="Text 2"/>
          <p:cNvSpPr/>
          <p:nvPr/>
        </p:nvSpPr>
        <p:spPr>
          <a:xfrm>
            <a:off x="365760" y="777240"/>
            <a:ext cx="8412480" cy="640080"/>
          </a:xfrm>
          <a:prstGeom prst="rect">
            <a:avLst/>
          </a:prstGeom>
          <a:noFill/>
          <a:ln/>
        </p:spPr>
        <p:txBody>
          <a:bodyPr wrap="square" lIns="0" tIns="0" rIns="0" bIns="0" rtlCol="0" anchor="ctr"/>
          <a:lstStyle/>
          <a:p>
            <a:pPr indent="0" marL="0">
              <a:buNone/>
            </a:pPr>
            <a:r>
              <a:rPr lang="en-US" sz="2600" b="1" dirty="0">
                <a:solidFill>
                  <a:srgbClr val="C0392B"/>
                </a:solidFill>
                <a:latin typeface="Arial Black" pitchFamily="34" charset="0"/>
                <a:ea typeface="Arial Black" pitchFamily="34" charset="-122"/>
                <a:cs typeface="Arial Black" pitchFamily="34" charset="-120"/>
              </a:rPr>
              <a:t>Rule #1: You Do Not Touch the Model. Ever.</a:t>
            </a:r>
            <a:endParaRPr lang="en-US" sz="2600" dirty="0"/>
          </a:p>
        </p:txBody>
      </p:sp>
      <p:sp>
        <p:nvSpPr>
          <p:cNvPr id="6" name="Shape 3"/>
          <p:cNvSpPr/>
          <p:nvPr/>
        </p:nvSpPr>
        <p:spPr>
          <a:xfrm>
            <a:off x="320040" y="1600200"/>
            <a:ext cx="2697480" cy="256032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1325880" y="1783080"/>
            <a:ext cx="685800" cy="685800"/>
          </a:xfrm>
          <a:prstGeom prst="rect">
            <a:avLst/>
          </a:prstGeom>
        </p:spPr>
      </p:pic>
      <p:sp>
        <p:nvSpPr>
          <p:cNvPr id="8" name="Text 4"/>
          <p:cNvSpPr/>
          <p:nvPr/>
        </p:nvSpPr>
        <p:spPr>
          <a:xfrm>
            <a:off x="411480" y="2560320"/>
            <a:ext cx="2514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Verbal Direction</a:t>
            </a:r>
            <a:endParaRPr lang="en-US" sz="1400" dirty="0"/>
          </a:p>
        </p:txBody>
      </p:sp>
      <p:sp>
        <p:nvSpPr>
          <p:cNvPr id="9" name="Text 5"/>
          <p:cNvSpPr/>
          <p:nvPr/>
        </p:nvSpPr>
        <p:spPr>
          <a:xfrm>
            <a:off x="411480" y="3017520"/>
            <a:ext cx="2514600" cy="100584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Describe the position clearly and professionally. Be specific about what you need.</a:t>
            </a:r>
            <a:endParaRPr lang="en-US" sz="1200" dirty="0"/>
          </a:p>
        </p:txBody>
      </p:sp>
      <p:sp>
        <p:nvSpPr>
          <p:cNvPr id="10" name="Shape 6"/>
          <p:cNvSpPr/>
          <p:nvPr/>
        </p:nvSpPr>
        <p:spPr>
          <a:xfrm>
            <a:off x="3200400" y="1600200"/>
            <a:ext cx="2697480" cy="256032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206240" y="1783080"/>
            <a:ext cx="685800" cy="685800"/>
          </a:xfrm>
          <a:prstGeom prst="rect">
            <a:avLst/>
          </a:prstGeom>
        </p:spPr>
      </p:pic>
      <p:sp>
        <p:nvSpPr>
          <p:cNvPr id="12" name="Text 7"/>
          <p:cNvSpPr/>
          <p:nvPr/>
        </p:nvSpPr>
        <p:spPr>
          <a:xfrm>
            <a:off x="3291840" y="2560320"/>
            <a:ext cx="2514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Demonstrate It</a:t>
            </a:r>
            <a:endParaRPr lang="en-US" sz="1400" dirty="0"/>
          </a:p>
        </p:txBody>
      </p:sp>
      <p:sp>
        <p:nvSpPr>
          <p:cNvPr id="13" name="Text 8"/>
          <p:cNvSpPr/>
          <p:nvPr/>
        </p:nvSpPr>
        <p:spPr>
          <a:xfrm>
            <a:off x="3291840" y="3017520"/>
            <a:ext cx="2514600" cy="100584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Show the pose yourself. Let the model mirror you. Simple, effective, zero contact.</a:t>
            </a:r>
            <a:endParaRPr lang="en-US" sz="1200" dirty="0"/>
          </a:p>
        </p:txBody>
      </p:sp>
      <p:sp>
        <p:nvSpPr>
          <p:cNvPr id="14" name="Shape 9"/>
          <p:cNvSpPr/>
          <p:nvPr/>
        </p:nvSpPr>
        <p:spPr>
          <a:xfrm>
            <a:off x="6080760" y="1600200"/>
            <a:ext cx="2697480" cy="256032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7086600" y="1783080"/>
            <a:ext cx="685800" cy="685800"/>
          </a:xfrm>
          <a:prstGeom prst="rect">
            <a:avLst/>
          </a:prstGeom>
        </p:spPr>
      </p:pic>
      <p:sp>
        <p:nvSpPr>
          <p:cNvPr id="16" name="Text 10"/>
          <p:cNvSpPr/>
          <p:nvPr/>
        </p:nvSpPr>
        <p:spPr>
          <a:xfrm>
            <a:off x="6172200" y="2560320"/>
            <a:ext cx="2514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Delegate</a:t>
            </a:r>
            <a:endParaRPr lang="en-US" sz="1400" dirty="0"/>
          </a:p>
        </p:txBody>
      </p:sp>
      <p:sp>
        <p:nvSpPr>
          <p:cNvPr id="17" name="Text 11"/>
          <p:cNvSpPr/>
          <p:nvPr/>
        </p:nvSpPr>
        <p:spPr>
          <a:xfrm>
            <a:off x="6172200" y="3017520"/>
            <a:ext cx="2514600" cy="100584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Ask a same-sex assistant, or the model's parent or companion to make the adjustment.</a:t>
            </a:r>
            <a:endParaRPr lang="en-US" sz="1200" dirty="0"/>
          </a:p>
        </p:txBody>
      </p:sp>
      <p:sp>
        <p:nvSpPr>
          <p:cNvPr id="18" name="Text 12"/>
          <p:cNvSpPr/>
          <p:nvPr/>
        </p:nvSpPr>
        <p:spPr>
          <a:xfrm>
            <a:off x="365760" y="4251960"/>
            <a:ext cx="8412480" cy="347472"/>
          </a:xfrm>
          <a:prstGeom prst="rect">
            <a:avLst/>
          </a:prstGeom>
          <a:noFill/>
          <a:ln/>
        </p:spPr>
        <p:txBody>
          <a:bodyPr wrap="square" lIns="0" tIns="0" rIns="0" bIns="0" rtlCol="0" anchor="ctr"/>
          <a:lstStyle/>
          <a:p>
            <a:pPr indent="0" marL="0">
              <a:buNone/>
            </a:pPr>
            <a:r>
              <a:rPr lang="en-US" sz="1300" i="1" dirty="0">
                <a:solidFill>
                  <a:srgbClr val="0D7377"/>
                </a:solidFill>
                <a:latin typeface="Calibri" pitchFamily="34" charset="0"/>
                <a:ea typeface="Calibri" pitchFamily="34" charset="-122"/>
                <a:cs typeface="Calibri" pitchFamily="34" charset="-120"/>
              </a:rPr>
              <a:t>Those are your three options. There is no fourth.</a:t>
            </a:r>
            <a:endParaRPr lang="en-US" sz="1300" dirty="0"/>
          </a:p>
        </p:txBody>
      </p:sp>
      <p:sp>
        <p:nvSpPr>
          <p:cNvPr id="19" name="Shape 13"/>
          <p:cNvSpPr/>
          <p:nvPr/>
        </p:nvSpPr>
        <p:spPr>
          <a:xfrm>
            <a:off x="0" y="4663440"/>
            <a:ext cx="9144000" cy="480060"/>
          </a:xfrm>
          <a:prstGeom prst="rect">
            <a:avLst/>
          </a:prstGeom>
          <a:solidFill>
            <a:srgbClr val="1B2A4A"/>
          </a:solidFill>
          <a:ln w="12700">
            <a:solidFill>
              <a:srgbClr val="1B2A4A"/>
            </a:solidFill>
            <a:prstDash val="solid"/>
          </a:ln>
        </p:spPr>
      </p:sp>
      <p:sp>
        <p:nvSpPr>
          <p:cNvPr id="20" name="Text 14"/>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PHOTOGRAPHER STANDARDS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Minors &amp; Image Rights</a:t>
            </a:r>
            <a:endParaRPr lang="en-US" sz="2800" dirty="0"/>
          </a:p>
        </p:txBody>
      </p:sp>
      <p:sp>
        <p:nvSpPr>
          <p:cNvPr id="6" name="Shape 3"/>
          <p:cNvSpPr/>
          <p:nvPr/>
        </p:nvSpPr>
        <p:spPr>
          <a:xfrm>
            <a:off x="320040" y="1463040"/>
            <a:ext cx="4023360" cy="265176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502920" y="1600200"/>
            <a:ext cx="594360" cy="594360"/>
          </a:xfrm>
          <a:prstGeom prst="rect">
            <a:avLst/>
          </a:prstGeom>
        </p:spPr>
      </p:pic>
      <p:sp>
        <p:nvSpPr>
          <p:cNvPr id="8" name="Text 4"/>
          <p:cNvSpPr/>
          <p:nvPr/>
        </p:nvSpPr>
        <p:spPr>
          <a:xfrm>
            <a:off x="1188720" y="1664208"/>
            <a:ext cx="2926080" cy="475488"/>
          </a:xfrm>
          <a:prstGeom prst="rect">
            <a:avLst/>
          </a:prstGeom>
          <a:noFill/>
          <a:ln/>
        </p:spPr>
        <p:txBody>
          <a:bodyPr wrap="square" lIns="0" tIns="0" rIns="0" bIns="0" rtlCol="0" anchor="ctr"/>
          <a:lstStyle/>
          <a:p>
            <a:pPr indent="0" marL="0">
              <a:buNone/>
            </a:pPr>
            <a:r>
              <a:rPr lang="en-US" sz="1500" b="1" dirty="0">
                <a:solidFill>
                  <a:srgbClr val="F4A261"/>
                </a:solidFill>
                <a:latin typeface="Calibri" pitchFamily="34" charset="0"/>
                <a:ea typeface="Calibri" pitchFamily="34" charset="-122"/>
                <a:cs typeface="Calibri" pitchFamily="34" charset="-120"/>
              </a:rPr>
              <a:t>When Minors Are Present</a:t>
            </a:r>
            <a:endParaRPr lang="en-US" sz="1500" dirty="0"/>
          </a:p>
        </p:txBody>
      </p:sp>
      <p:sp>
        <p:nvSpPr>
          <p:cNvPr id="9" name="Text 5"/>
          <p:cNvSpPr/>
          <p:nvPr/>
        </p:nvSpPr>
        <p:spPr>
          <a:xfrm>
            <a:off x="502920" y="2240280"/>
            <a:ext cx="3657600" cy="1737360"/>
          </a:xfrm>
          <a:prstGeom prst="rect">
            <a:avLst/>
          </a:prstGeom>
          <a:noFill/>
          <a:ln/>
        </p:spPr>
        <p:txBody>
          <a:bodyPr wrap="square" lIns="0" tIns="0" rIns="0" bIns="0" rtlCol="0" anchor="ctr"/>
          <a:lstStyle/>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A parent or legal guardian must be present on-set — not nearby, not in the parking lot.</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If the parent steps away, the shoot pauses immediately.</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You never work alone with a minor. No exceptions.</a:t>
            </a:r>
            <a:endParaRPr lang="en-US" sz="1300" dirty="0"/>
          </a:p>
        </p:txBody>
      </p:sp>
      <p:sp>
        <p:nvSpPr>
          <p:cNvPr id="10" name="Shape 6"/>
          <p:cNvSpPr/>
          <p:nvPr/>
        </p:nvSpPr>
        <p:spPr>
          <a:xfrm>
            <a:off x="4800600" y="1463040"/>
            <a:ext cx="4023360" cy="265176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983480" y="1600200"/>
            <a:ext cx="594360" cy="594360"/>
          </a:xfrm>
          <a:prstGeom prst="rect">
            <a:avLst/>
          </a:prstGeom>
        </p:spPr>
      </p:pic>
      <p:sp>
        <p:nvSpPr>
          <p:cNvPr id="12" name="Text 7"/>
          <p:cNvSpPr/>
          <p:nvPr/>
        </p:nvSpPr>
        <p:spPr>
          <a:xfrm>
            <a:off x="5669280" y="1664208"/>
            <a:ext cx="3017520" cy="475488"/>
          </a:xfrm>
          <a:prstGeom prst="rect">
            <a:avLst/>
          </a:prstGeom>
          <a:noFill/>
          <a:ln/>
        </p:spPr>
        <p:txBody>
          <a:bodyPr wrap="square" lIns="0" tIns="0" rIns="0" bIns="0" rtlCol="0" anchor="ctr"/>
          <a:lstStyle/>
          <a:p>
            <a:pPr indent="0" marL="0">
              <a:buNone/>
            </a:pPr>
            <a:r>
              <a:rPr lang="en-US" sz="1500" b="1" dirty="0">
                <a:solidFill>
                  <a:srgbClr val="14FFEC"/>
                </a:solidFill>
                <a:latin typeface="Calibri" pitchFamily="34" charset="0"/>
                <a:ea typeface="Calibri" pitchFamily="34" charset="-122"/>
                <a:cs typeface="Calibri" pitchFamily="34" charset="-120"/>
              </a:rPr>
              <a:t>Image Distribution</a:t>
            </a:r>
            <a:endParaRPr lang="en-US" sz="1500" dirty="0"/>
          </a:p>
        </p:txBody>
      </p:sp>
      <p:sp>
        <p:nvSpPr>
          <p:cNvPr id="13" name="Text 8"/>
          <p:cNvSpPr/>
          <p:nvPr/>
        </p:nvSpPr>
        <p:spPr>
          <a:xfrm>
            <a:off x="4983480" y="2240280"/>
            <a:ext cx="3657600" cy="1737360"/>
          </a:xfrm>
          <a:prstGeom prst="rect">
            <a:avLst/>
          </a:prstGeom>
          <a:noFill/>
          <a:ln/>
        </p:spPr>
        <p:txBody>
          <a:bodyPr wrap="square" lIns="0" tIns="0" rIns="0" bIns="0" rtlCol="0" anchor="ctr"/>
          <a:lstStyle/>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Do not share, post, or distribute images without the model's explicit agreement.</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For minors, written parental consent is required before any image is posted anywhere.</a:t>
            </a:r>
            <a:endParaRPr lang="en-US" sz="1300" dirty="0"/>
          </a:p>
          <a:p>
            <a:pPr marL="342900" indent="-342900">
              <a:buSzPct val="100000"/>
              <a:buChar char="•"/>
            </a:pPr>
            <a:r>
              <a:rPr lang="en-US" sz="1300" dirty="0">
                <a:solidFill>
                  <a:srgbClr val="AABDCE"/>
                </a:solidFill>
                <a:latin typeface="Calibri" pitchFamily="34" charset="0"/>
                <a:ea typeface="Calibri" pitchFamily="34" charset="-122"/>
                <a:cs typeface="Calibri" pitchFamily="34" charset="-120"/>
              </a:rPr>
              <a:t>Violation carries legal consequences — not just removal.</a:t>
            </a:r>
            <a:endParaRPr lang="en-US" sz="1300" dirty="0"/>
          </a:p>
        </p:txBody>
      </p:sp>
      <p:sp>
        <p:nvSpPr>
          <p:cNvPr id="14" name="Shape 9"/>
          <p:cNvSpPr/>
          <p:nvPr/>
        </p:nvSpPr>
        <p:spPr>
          <a:xfrm>
            <a:off x="0" y="4663440"/>
            <a:ext cx="9144000" cy="480060"/>
          </a:xfrm>
          <a:prstGeom prst="rect">
            <a:avLst/>
          </a:prstGeom>
          <a:solidFill>
            <a:srgbClr val="1B2A4A"/>
          </a:solidFill>
          <a:ln w="12700">
            <a:solidFill>
              <a:srgbClr val="1B2A4A"/>
            </a:solidFill>
            <a:prstDash val="solid"/>
          </a:ln>
        </p:spPr>
      </p:sp>
      <p:sp>
        <p:nvSpPr>
          <p:cNvPr id="15" name="Text 10"/>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7377"/>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03</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MODEL</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STANDARDS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D0F0ED"/>
                </a:solidFill>
                <a:latin typeface="Calibri" pitchFamily="34" charset="0"/>
                <a:ea typeface="Calibri" pitchFamily="34" charset="-122"/>
                <a:cs typeface="Calibri" pitchFamily="34" charset="-120"/>
              </a:rPr>
              <a:t>Professionalism goes both ways.</a:t>
            </a:r>
            <a:endParaRPr lang="en-US" sz="1800" dirty="0"/>
          </a:p>
        </p:txBody>
      </p:sp>
      <p:sp>
        <p:nvSpPr>
          <p:cNvPr id="6" name="Shape 3"/>
          <p:cNvSpPr/>
          <p:nvPr/>
        </p:nvSpPr>
        <p:spPr>
          <a:xfrm>
            <a:off x="0" y="4572000"/>
            <a:ext cx="9144000" cy="571500"/>
          </a:xfrm>
          <a:prstGeom prst="rect">
            <a:avLst/>
          </a:prstGeom>
          <a:solidFill>
            <a:srgbClr val="1B2A4A"/>
          </a:solidFill>
          <a:ln w="12700">
            <a:solidFill>
              <a:srgbClr val="1B2A4A"/>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MODEL STANDARDS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What's Expected of You On Set</a:t>
            </a:r>
            <a:endParaRPr lang="en-US" sz="2800" dirty="0"/>
          </a:p>
        </p:txBody>
      </p:sp>
      <p:sp>
        <p:nvSpPr>
          <p:cNvPr id="6" name="Shape 3"/>
          <p:cNvSpPr/>
          <p:nvPr/>
        </p:nvSpPr>
        <p:spPr>
          <a:xfrm>
            <a:off x="320040" y="150876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457200" y="1856232"/>
            <a:ext cx="548640" cy="548640"/>
          </a:xfrm>
          <a:prstGeom prst="rect">
            <a:avLst/>
          </a:prstGeom>
        </p:spPr>
      </p:pic>
      <p:sp>
        <p:nvSpPr>
          <p:cNvPr id="8" name="Text 4"/>
          <p:cNvSpPr/>
          <p:nvPr/>
        </p:nvSpPr>
        <p:spPr>
          <a:xfrm>
            <a:off x="1097280" y="161848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unsolicited physical contact</a:t>
            </a:r>
            <a:endParaRPr lang="en-US" sz="1300" dirty="0"/>
          </a:p>
        </p:txBody>
      </p:sp>
      <p:sp>
        <p:nvSpPr>
          <p:cNvPr id="9" name="Text 5"/>
          <p:cNvSpPr/>
          <p:nvPr/>
        </p:nvSpPr>
        <p:spPr>
          <a:xfrm>
            <a:off x="1097280" y="202996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Do not initiate physical contact with any photographer, crew, or equipment without permission.</a:t>
            </a:r>
            <a:endParaRPr lang="en-US" sz="1100" dirty="0"/>
          </a:p>
        </p:txBody>
      </p:sp>
      <p:sp>
        <p:nvSpPr>
          <p:cNvPr id="10" name="Shape 6"/>
          <p:cNvSpPr/>
          <p:nvPr/>
        </p:nvSpPr>
        <p:spPr>
          <a:xfrm>
            <a:off x="4709160" y="150876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4846320" y="1856232"/>
            <a:ext cx="548640" cy="548640"/>
          </a:xfrm>
          <a:prstGeom prst="rect">
            <a:avLst/>
          </a:prstGeom>
        </p:spPr>
      </p:pic>
      <p:sp>
        <p:nvSpPr>
          <p:cNvPr id="12" name="Text 7"/>
          <p:cNvSpPr/>
          <p:nvPr/>
        </p:nvSpPr>
        <p:spPr>
          <a:xfrm>
            <a:off x="5486400" y="161848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Redirect verbally</a:t>
            </a:r>
            <a:endParaRPr lang="en-US" sz="1300" dirty="0"/>
          </a:p>
        </p:txBody>
      </p:sp>
      <p:sp>
        <p:nvSpPr>
          <p:cNvPr id="13" name="Text 8"/>
          <p:cNvSpPr/>
          <p:nvPr/>
        </p:nvSpPr>
        <p:spPr>
          <a:xfrm>
            <a:off x="5486400" y="202996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If you want to change the creative direction, say it — don't demonstrate it physically on the photographer.</a:t>
            </a:r>
            <a:endParaRPr lang="en-US" sz="1100" dirty="0"/>
          </a:p>
        </p:txBody>
      </p:sp>
      <p:sp>
        <p:nvSpPr>
          <p:cNvPr id="14" name="Shape 9"/>
          <p:cNvSpPr/>
          <p:nvPr/>
        </p:nvSpPr>
        <p:spPr>
          <a:xfrm>
            <a:off x="320040" y="301752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457200" y="3364992"/>
            <a:ext cx="548640" cy="548640"/>
          </a:xfrm>
          <a:prstGeom prst="rect">
            <a:avLst/>
          </a:prstGeom>
        </p:spPr>
      </p:pic>
      <p:sp>
        <p:nvSpPr>
          <p:cNvPr id="16" name="Text 10"/>
          <p:cNvSpPr/>
          <p:nvPr/>
        </p:nvSpPr>
        <p:spPr>
          <a:xfrm>
            <a:off x="1097280" y="312724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Stay within the agreed concept</a:t>
            </a:r>
            <a:endParaRPr lang="en-US" sz="1300" dirty="0"/>
          </a:p>
        </p:txBody>
      </p:sp>
      <p:sp>
        <p:nvSpPr>
          <p:cNvPr id="17" name="Text 11"/>
          <p:cNvSpPr/>
          <p:nvPr/>
        </p:nvSpPr>
        <p:spPr>
          <a:xfrm>
            <a:off x="1097280" y="353872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Know what kind of shoot you agreed to. If the direction shifts somewhere uncomfortable, speak up clearly.</a:t>
            </a:r>
            <a:endParaRPr lang="en-US" sz="1100" dirty="0"/>
          </a:p>
        </p:txBody>
      </p:sp>
      <p:sp>
        <p:nvSpPr>
          <p:cNvPr id="18" name="Shape 12"/>
          <p:cNvSpPr/>
          <p:nvPr/>
        </p:nvSpPr>
        <p:spPr>
          <a:xfrm>
            <a:off x="4709160" y="3017520"/>
            <a:ext cx="4114800" cy="13716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pic>
        <p:nvPicPr>
          <p:cNvPr id="19" name="Image 3" descr="preencoded.png">    </p:cNvPr>
          <p:cNvPicPr>
            <a:picLocks noChangeAspect="1"/>
          </p:cNvPicPr>
          <p:nvPr/>
        </p:nvPicPr>
        <p:blipFill>
          <a:blip r:embed="rId4"/>
          <a:stretch>
            <a:fillRect/>
          </a:stretch>
        </p:blipFill>
        <p:spPr>
          <a:xfrm>
            <a:off x="4846320" y="3364992"/>
            <a:ext cx="548640" cy="548640"/>
          </a:xfrm>
          <a:prstGeom prst="rect">
            <a:avLst/>
          </a:prstGeom>
        </p:spPr>
      </p:pic>
      <p:sp>
        <p:nvSpPr>
          <p:cNvPr id="20" name="Text 13"/>
          <p:cNvSpPr/>
          <p:nvPr/>
        </p:nvSpPr>
        <p:spPr>
          <a:xfrm>
            <a:off x="5486400" y="3127248"/>
            <a:ext cx="3200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 can stop at any time</a:t>
            </a:r>
            <a:endParaRPr lang="en-US" sz="1300" dirty="0"/>
          </a:p>
        </p:txBody>
      </p:sp>
      <p:sp>
        <p:nvSpPr>
          <p:cNvPr id="21" name="Text 14"/>
          <p:cNvSpPr/>
          <p:nvPr/>
        </p:nvSpPr>
        <p:spPr>
          <a:xfrm>
            <a:off x="5486400" y="3538728"/>
            <a:ext cx="3200400" cy="731520"/>
          </a:xfrm>
          <a:prstGeom prst="rect">
            <a:avLst/>
          </a:prstGeom>
          <a:noFill/>
          <a:ln/>
        </p:spPr>
        <p:txBody>
          <a:bodyPr wrap="square" lIns="0" tIns="0" rIns="0" bIns="0" rtlCol="0" anchor="ctr"/>
          <a:lstStyle/>
          <a:p>
            <a:pPr indent="0" marL="0">
              <a:buNone/>
            </a:pPr>
            <a:r>
              <a:rPr lang="en-US" sz="1100" dirty="0">
                <a:solidFill>
                  <a:srgbClr val="AABDCE"/>
                </a:solidFill>
                <a:latin typeface="Calibri" pitchFamily="34" charset="0"/>
                <a:ea typeface="Calibri" pitchFamily="34" charset="-122"/>
                <a:cs typeface="Calibri" pitchFamily="34" charset="-120"/>
              </a:rPr>
              <a:t>No explanation needed. Say the word and the shoot stops. This right belongs to everyone.</a:t>
            </a:r>
            <a:endParaRPr lang="en-US" sz="1100" dirty="0"/>
          </a:p>
        </p:txBody>
      </p:sp>
      <p:sp>
        <p:nvSpPr>
          <p:cNvPr id="22" name="Shape 15"/>
          <p:cNvSpPr/>
          <p:nvPr/>
        </p:nvSpPr>
        <p:spPr>
          <a:xfrm>
            <a:off x="0" y="4663440"/>
            <a:ext cx="9144000" cy="480060"/>
          </a:xfrm>
          <a:prstGeom prst="rect">
            <a:avLst/>
          </a:prstGeom>
          <a:solidFill>
            <a:srgbClr val="1B2A4A"/>
          </a:solidFill>
          <a:ln w="12700">
            <a:solidFill>
              <a:srgbClr val="1B2A4A"/>
            </a:solidFill>
            <a:prstDash val="solid"/>
          </a:ln>
        </p:spPr>
      </p:sp>
      <p:sp>
        <p:nvSpPr>
          <p:cNvPr id="23" name="Text 16"/>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04</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SHARED</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STANDARDS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AABDCE"/>
                </a:solidFill>
                <a:latin typeface="Calibri" pitchFamily="34" charset="0"/>
                <a:ea typeface="Calibri" pitchFamily="34" charset="-122"/>
                <a:cs typeface="Calibri" pitchFamily="34" charset="-120"/>
              </a:rPr>
              <a:t>What applies to everyone — no exceptions.</a:t>
            </a:r>
            <a:endParaRPr lang="en-US" sz="1800" dirty="0"/>
          </a:p>
        </p:txBody>
      </p:sp>
      <p:sp>
        <p:nvSpPr>
          <p:cNvPr id="6" name="Shape 3"/>
          <p:cNvSpPr/>
          <p:nvPr/>
        </p:nvSpPr>
        <p:spPr>
          <a:xfrm>
            <a:off x="0" y="4572000"/>
            <a:ext cx="9144000" cy="571500"/>
          </a:xfrm>
          <a:prstGeom prst="rect">
            <a:avLst/>
          </a:prstGeom>
          <a:solidFill>
            <a:srgbClr val="0D7377"/>
          </a:solidFill>
          <a:ln w="12700">
            <a:solidFill>
              <a:srgbClr val="0D7377"/>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SHARED STANDARDS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Mutual Respect Is Non-Negotiable</a:t>
            </a:r>
            <a:endParaRPr lang="en-US" sz="2800" dirty="0"/>
          </a:p>
        </p:txBody>
      </p:sp>
      <p:sp>
        <p:nvSpPr>
          <p:cNvPr id="6" name="Shape 3"/>
          <p:cNvSpPr/>
          <p:nvPr/>
        </p:nvSpPr>
        <p:spPr>
          <a:xfrm>
            <a:off x="320040" y="1508760"/>
            <a:ext cx="2697480" cy="2743200"/>
          </a:xfrm>
          <a:prstGeom prst="rect">
            <a:avLst/>
          </a:prstGeom>
          <a:solidFill>
            <a:srgbClr val="FFFFFF"/>
          </a:solidFill>
          <a:ln w="12700">
            <a:solidFill>
              <a:srgbClr val="DDDDDD"/>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1325880" y="1664208"/>
            <a:ext cx="685800" cy="685800"/>
          </a:xfrm>
          <a:prstGeom prst="ellipse">
            <a:avLst/>
          </a:prstGeom>
          <a:solidFill>
            <a:srgbClr val="0D7377"/>
          </a:solidFill>
          <a:ln w="12700">
            <a:solidFill>
              <a:srgbClr val="0D7377"/>
            </a:solidFill>
            <a:prstDash val="solid"/>
          </a:ln>
        </p:spPr>
      </p:sp>
      <p:sp>
        <p:nvSpPr>
          <p:cNvPr id="8" name="Text 5"/>
          <p:cNvSpPr/>
          <p:nvPr/>
        </p:nvSpPr>
        <p:spPr>
          <a:xfrm>
            <a:off x="132588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9" name="Text 6"/>
          <p:cNvSpPr/>
          <p:nvPr/>
        </p:nvSpPr>
        <p:spPr>
          <a:xfrm>
            <a:off x="411480" y="2423160"/>
            <a:ext cx="2514600" cy="438912"/>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Say Something</a:t>
            </a:r>
            <a:endParaRPr lang="en-US" sz="1500" dirty="0"/>
          </a:p>
        </p:txBody>
      </p:sp>
      <p:sp>
        <p:nvSpPr>
          <p:cNvPr id="10" name="Text 7"/>
          <p:cNvSpPr/>
          <p:nvPr/>
        </p:nvSpPr>
        <p:spPr>
          <a:xfrm>
            <a:off x="457200" y="2926080"/>
            <a:ext cx="2423160" cy="123444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"I'm not comfortable with that" is a complete sentence. Say it directly and calmly. You don't need to justify it.</a:t>
            </a:r>
            <a:endParaRPr lang="en-US" sz="1200" dirty="0"/>
          </a:p>
        </p:txBody>
      </p:sp>
      <p:sp>
        <p:nvSpPr>
          <p:cNvPr id="11" name="Shape 8"/>
          <p:cNvSpPr/>
          <p:nvPr/>
        </p:nvSpPr>
        <p:spPr>
          <a:xfrm>
            <a:off x="3200400" y="1508760"/>
            <a:ext cx="2697480" cy="2743200"/>
          </a:xfrm>
          <a:prstGeom prst="rect">
            <a:avLst/>
          </a:prstGeom>
          <a:solidFill>
            <a:srgbClr val="FFFFFF"/>
          </a:solidFill>
          <a:ln w="12700">
            <a:solidFill>
              <a:srgbClr val="DDDDDD"/>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4206240" y="1664208"/>
            <a:ext cx="685800" cy="685800"/>
          </a:xfrm>
          <a:prstGeom prst="ellipse">
            <a:avLst/>
          </a:prstGeom>
          <a:solidFill>
            <a:srgbClr val="F4A261"/>
          </a:solidFill>
          <a:ln w="12700">
            <a:solidFill>
              <a:srgbClr val="F4A261"/>
            </a:solidFill>
            <a:prstDash val="solid"/>
          </a:ln>
        </p:spPr>
      </p:sp>
      <p:sp>
        <p:nvSpPr>
          <p:cNvPr id="13" name="Text 10"/>
          <p:cNvSpPr/>
          <p:nvPr/>
        </p:nvSpPr>
        <p:spPr>
          <a:xfrm>
            <a:off x="420624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4" name="Text 11"/>
          <p:cNvSpPr/>
          <p:nvPr/>
        </p:nvSpPr>
        <p:spPr>
          <a:xfrm>
            <a:off x="3291840" y="2423160"/>
            <a:ext cx="2514600" cy="438912"/>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Stop the Shoot</a:t>
            </a:r>
            <a:endParaRPr lang="en-US" sz="1500" dirty="0"/>
          </a:p>
        </p:txBody>
      </p:sp>
      <p:sp>
        <p:nvSpPr>
          <p:cNvPr id="15" name="Text 12"/>
          <p:cNvSpPr/>
          <p:nvPr/>
        </p:nvSpPr>
        <p:spPr>
          <a:xfrm>
            <a:off x="3337560" y="2926080"/>
            <a:ext cx="2423160" cy="123444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If saying something doesn't resolve it — stop. Walk away from the situation and get to a safe distance.</a:t>
            </a:r>
            <a:endParaRPr lang="en-US" sz="1200" dirty="0"/>
          </a:p>
        </p:txBody>
      </p:sp>
      <p:sp>
        <p:nvSpPr>
          <p:cNvPr id="16" name="Shape 13"/>
          <p:cNvSpPr/>
          <p:nvPr/>
        </p:nvSpPr>
        <p:spPr>
          <a:xfrm>
            <a:off x="6080760" y="1508760"/>
            <a:ext cx="2697480" cy="2743200"/>
          </a:xfrm>
          <a:prstGeom prst="rect">
            <a:avLst/>
          </a:prstGeom>
          <a:solidFill>
            <a:srgbClr val="FFFFFF"/>
          </a:solidFill>
          <a:ln w="12700">
            <a:solidFill>
              <a:srgbClr val="DDDDDD"/>
            </a:solidFill>
            <a:prstDash val="solid"/>
          </a:ln>
          <a:effectLst>
            <a:outerShdw sx="100000" sy="100000" kx="0" ky="0" algn="bl" rotWithShape="0" blurRad="101600" dist="38100" dir="8100000">
              <a:srgbClr val="000000">
                <a:alpha val="18000"/>
              </a:srgbClr>
            </a:outerShdw>
          </a:effectLst>
        </p:spPr>
      </p:sp>
      <p:sp>
        <p:nvSpPr>
          <p:cNvPr id="17" name="Shape 14"/>
          <p:cNvSpPr/>
          <p:nvPr/>
        </p:nvSpPr>
        <p:spPr>
          <a:xfrm>
            <a:off x="7086600" y="1664208"/>
            <a:ext cx="685800" cy="685800"/>
          </a:xfrm>
          <a:prstGeom prst="ellipse">
            <a:avLst/>
          </a:prstGeom>
          <a:solidFill>
            <a:srgbClr val="1A7F5A"/>
          </a:solidFill>
          <a:ln w="12700">
            <a:solidFill>
              <a:srgbClr val="1A7F5A"/>
            </a:solidFill>
            <a:prstDash val="solid"/>
          </a:ln>
        </p:spPr>
      </p:sp>
      <p:sp>
        <p:nvSpPr>
          <p:cNvPr id="18" name="Text 15"/>
          <p:cNvSpPr/>
          <p:nvPr/>
        </p:nvSpPr>
        <p:spPr>
          <a:xfrm>
            <a:off x="708660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19" name="Text 16"/>
          <p:cNvSpPr/>
          <p:nvPr/>
        </p:nvSpPr>
        <p:spPr>
          <a:xfrm>
            <a:off x="6172200" y="2423160"/>
            <a:ext cx="2514600" cy="438912"/>
          </a:xfrm>
          <a:prstGeom prst="rect">
            <a:avLst/>
          </a:prstGeom>
          <a:noFill/>
          <a:ln/>
        </p:spPr>
        <p:txBody>
          <a:bodyPr wrap="square" lIns="0" tIns="0" rIns="0" bIns="0" rtlCol="0" anchor="ctr"/>
          <a:lstStyle/>
          <a:p>
            <a:pPr algn="ctr" indent="0" marL="0">
              <a:buNone/>
            </a:pPr>
            <a:r>
              <a:rPr lang="en-US" sz="1500" b="1" dirty="0">
                <a:solidFill>
                  <a:srgbClr val="1B2A4A"/>
                </a:solidFill>
                <a:latin typeface="Calibri" pitchFamily="34" charset="0"/>
                <a:ea typeface="Calibri" pitchFamily="34" charset="-122"/>
                <a:cs typeface="Calibri" pitchFamily="34" charset="-120"/>
              </a:rPr>
              <a:t>Report It</a:t>
            </a:r>
            <a:endParaRPr lang="en-US" sz="1500" dirty="0"/>
          </a:p>
        </p:txBody>
      </p:sp>
      <p:sp>
        <p:nvSpPr>
          <p:cNvPr id="20" name="Text 17"/>
          <p:cNvSpPr/>
          <p:nvPr/>
        </p:nvSpPr>
        <p:spPr>
          <a:xfrm>
            <a:off x="6217920" y="2926080"/>
            <a:ext cx="2423160" cy="123444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Tell the event organizer what happened, when, and who was involved. Be specific. The community self-corrects when issues surface.</a:t>
            </a:r>
            <a:endParaRPr lang="en-US" sz="1200" dirty="0"/>
          </a:p>
        </p:txBody>
      </p:sp>
      <p:sp>
        <p:nvSpPr>
          <p:cNvPr id="21" name="Shape 18"/>
          <p:cNvSpPr/>
          <p:nvPr/>
        </p:nvSpPr>
        <p:spPr>
          <a:xfrm>
            <a:off x="0" y="4663440"/>
            <a:ext cx="9144000" cy="480060"/>
          </a:xfrm>
          <a:prstGeom prst="rect">
            <a:avLst/>
          </a:prstGeom>
          <a:solidFill>
            <a:srgbClr val="1B2A4A"/>
          </a:solidFill>
          <a:ln w="12700">
            <a:solidFill>
              <a:srgbClr val="1B2A4A"/>
            </a:solidFill>
            <a:prstDash val="solid"/>
          </a:ln>
        </p:spPr>
      </p:sp>
      <p:sp>
        <p:nvSpPr>
          <p:cNvPr id="22" name="Text 19"/>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SHARED STANDARDS</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C0392B"/>
                </a:solidFill>
                <a:latin typeface="Arial Black" pitchFamily="34" charset="0"/>
                <a:ea typeface="Arial Black" pitchFamily="34" charset="-122"/>
                <a:cs typeface="Arial Black" pitchFamily="34" charset="-120"/>
              </a:rPr>
              <a:t>What Gets You Removed — Immediately</a:t>
            </a:r>
            <a:endParaRPr lang="en-US" sz="2800" dirty="0"/>
          </a:p>
        </p:txBody>
      </p:sp>
      <p:pic>
        <p:nvPicPr>
          <p:cNvPr id="6" name="Image 0" descr="preencoded.png">    </p:cNvPr>
          <p:cNvPicPr>
            <a:picLocks noChangeAspect="1"/>
          </p:cNvPicPr>
          <p:nvPr/>
        </p:nvPicPr>
        <p:blipFill>
          <a:blip r:embed="rId1"/>
          <a:stretch>
            <a:fillRect/>
          </a:stretch>
        </p:blipFill>
        <p:spPr>
          <a:xfrm>
            <a:off x="365760" y="1508760"/>
            <a:ext cx="594360" cy="594360"/>
          </a:xfrm>
          <a:prstGeom prst="rect">
            <a:avLst/>
          </a:prstGeom>
        </p:spPr>
      </p:pic>
      <p:sp>
        <p:nvSpPr>
          <p:cNvPr id="7" name="Text 3"/>
          <p:cNvSpPr/>
          <p:nvPr/>
        </p:nvSpPr>
        <p:spPr>
          <a:xfrm>
            <a:off x="365760" y="2240280"/>
            <a:ext cx="5303520" cy="2194560"/>
          </a:xfrm>
          <a:prstGeom prst="rect">
            <a:avLst/>
          </a:prstGeom>
          <a:noFill/>
          <a:ln/>
        </p:spPr>
        <p:txBody>
          <a:bodyPr wrap="square" lIns="0" tIns="0" rIns="0" bIns="0" rtlCol="0" anchor="ctr"/>
          <a:lstStyle/>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Any unwanted physical contact</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Any inappropriate conduct involving a minor</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Retaliation against someone who raised a concern</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Distribution of images without consent</a:t>
            </a:r>
            <a:endParaRPr lang="en-US" sz="1400" dirty="0"/>
          </a:p>
          <a:p>
            <a:pPr marL="342900" indent="-342900">
              <a:buSzPct val="100000"/>
              <a:buChar char="•"/>
            </a:pPr>
            <a:r>
              <a:rPr lang="en-US" sz="1400" dirty="0">
                <a:solidFill>
                  <a:srgbClr val="111827"/>
                </a:solidFill>
                <a:latin typeface="Calibri" pitchFamily="34" charset="0"/>
                <a:ea typeface="Calibri" pitchFamily="34" charset="-122"/>
                <a:cs typeface="Calibri" pitchFamily="34" charset="-120"/>
              </a:rPr>
              <a:t>Harassment of any kind — online or in person</a:t>
            </a:r>
            <a:endParaRPr lang="en-US" sz="1400" dirty="0"/>
          </a:p>
        </p:txBody>
      </p:sp>
      <p:sp>
        <p:nvSpPr>
          <p:cNvPr id="8" name="Shape 4"/>
          <p:cNvSpPr/>
          <p:nvPr/>
        </p:nvSpPr>
        <p:spPr>
          <a:xfrm>
            <a:off x="5943600" y="1417320"/>
            <a:ext cx="2834640" cy="292608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9" name="Text 5"/>
          <p:cNvSpPr/>
          <p:nvPr/>
        </p:nvSpPr>
        <p:spPr>
          <a:xfrm>
            <a:off x="6035040" y="1737360"/>
            <a:ext cx="265176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No appeals.</a:t>
            </a:r>
            <a:endParaRPr lang="en-US" sz="2200" dirty="0"/>
          </a:p>
          <a:p>
            <a:pPr algn="ctr" indent="0" marL="0">
              <a:buNone/>
            </a:pPr>
            <a:r>
              <a:rPr lang="en-US" sz="2200" b="1" dirty="0">
                <a:solidFill>
                  <a:srgbClr val="FFFFFF"/>
                </a:solidFill>
                <a:latin typeface="Arial Black" pitchFamily="34" charset="0"/>
                <a:ea typeface="Arial Black" pitchFamily="34" charset="-122"/>
                <a:cs typeface="Arial Black" pitchFamily="34" charset="-120"/>
              </a:rPr>
              <a:t>No exceptions.</a:t>
            </a:r>
            <a:endParaRPr lang="en-US" sz="2200" dirty="0"/>
          </a:p>
        </p:txBody>
      </p:sp>
      <p:sp>
        <p:nvSpPr>
          <p:cNvPr id="10" name="Text 6"/>
          <p:cNvSpPr/>
          <p:nvPr/>
        </p:nvSpPr>
        <p:spPr>
          <a:xfrm>
            <a:off x="6035040" y="2834640"/>
            <a:ext cx="2651760" cy="1280160"/>
          </a:xfrm>
          <a:prstGeom prst="rect">
            <a:avLst/>
          </a:prstGeom>
          <a:noFill/>
          <a:ln/>
        </p:spPr>
        <p:txBody>
          <a:bodyPr wrap="square" lIns="0" tIns="0" rIns="0" bIns="0" rtlCol="0" anchor="ctr"/>
          <a:lstStyle/>
          <a:p>
            <a:pPr algn="ctr" indent="0" marL="0">
              <a:buNone/>
            </a:pPr>
            <a:r>
              <a:rPr lang="en-US" sz="1200" dirty="0">
                <a:solidFill>
                  <a:srgbClr val="AABDCE"/>
                </a:solidFill>
                <a:latin typeface="Calibri" pitchFamily="34" charset="0"/>
                <a:ea typeface="Calibri" pitchFamily="34" charset="-122"/>
                <a:cs typeface="Calibri" pitchFamily="34" charset="-120"/>
              </a:rPr>
              <a:t>This isn't about policing creativity. It's about making sure everyone goes home feeling good about what they made.</a:t>
            </a:r>
            <a:endParaRPr lang="en-US" sz="1200" dirty="0"/>
          </a:p>
        </p:txBody>
      </p:sp>
      <p:sp>
        <p:nvSpPr>
          <p:cNvPr id="11" name="Shape 7"/>
          <p:cNvSpPr/>
          <p:nvPr/>
        </p:nvSpPr>
        <p:spPr>
          <a:xfrm>
            <a:off x="0" y="4663440"/>
            <a:ext cx="9144000" cy="480060"/>
          </a:xfrm>
          <a:prstGeom prst="rect">
            <a:avLst/>
          </a:prstGeom>
          <a:solidFill>
            <a:srgbClr val="1B2A4A"/>
          </a:solidFill>
          <a:ln w="12700">
            <a:solidFill>
              <a:srgbClr val="1B2A4A"/>
            </a:solidFill>
            <a:prstDash val="solid"/>
          </a:ln>
        </p:spPr>
      </p:sp>
      <p:sp>
        <p:nvSpPr>
          <p:cNvPr id="12" name="Text 8"/>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7377"/>
        </a:solidFill>
      </p:bgPr>
    </p:bg>
    <p:spTree>
      <p:nvGrpSpPr>
        <p:cNvPr id="1" name=""/>
        <p:cNvGrpSpPr/>
        <p:nvPr/>
      </p:nvGrpSpPr>
      <p:grpSpPr>
        <a:xfrm>
          <a:off x="0" y="0"/>
          <a:ext cx="0" cy="0"/>
          <a:chOff x="0" y="0"/>
          <a:chExt cx="0" cy="0"/>
        </a:xfrm>
      </p:grpSpPr>
      <p:sp>
        <p:nvSpPr>
          <p:cNvPr id="3" name="Text 0"/>
          <p:cNvSpPr/>
          <p:nvPr/>
        </p:nvSpPr>
        <p:spPr>
          <a:xfrm>
            <a:off x="365760" y="274320"/>
            <a:ext cx="1828800" cy="1097280"/>
          </a:xfrm>
          <a:prstGeom prst="rect">
            <a:avLst/>
          </a:prstGeom>
          <a:noFill/>
          <a:ln/>
        </p:spPr>
        <p:txBody>
          <a:bodyPr wrap="square" lIns="0" tIns="0" rIns="0" bIns="0" rtlCol="0" anchor="ctr"/>
          <a:lstStyle/>
          <a:p>
            <a:pPr indent="0" marL="0">
              <a:buNone/>
            </a:pPr>
            <a:r>
              <a:rPr lang="en-US" sz="8000" b="1" dirty="0">
                <a:solidFill>
                  <a:srgbClr val="FFFFFF">
                    <a:alpha val="30000"/>
                  </a:srgbClr>
                </a:solidFill>
                <a:latin typeface="Arial Black" pitchFamily="34" charset="0"/>
                <a:ea typeface="Arial Black" pitchFamily="34" charset="-122"/>
                <a:cs typeface="Arial Black" pitchFamily="34" charset="-120"/>
              </a:rPr>
              <a:t>05</a:t>
            </a:r>
            <a:endParaRPr lang="en-US" sz="8000" dirty="0"/>
          </a:p>
        </p:txBody>
      </p:sp>
      <p:sp>
        <p:nvSpPr>
          <p:cNvPr id="4" name="Text 1"/>
          <p:cNvSpPr/>
          <p:nvPr/>
        </p:nvSpPr>
        <p:spPr>
          <a:xfrm>
            <a:off x="365760" y="1280160"/>
            <a:ext cx="8229600" cy="1280160"/>
          </a:xfrm>
          <a:prstGeom prst="rect">
            <a:avLst/>
          </a:prstGeom>
          <a:noFill/>
          <a:ln/>
        </p:spPr>
        <p:txBody>
          <a:bodyPr wrap="square" lIns="0" tIns="0" rIns="0" bIns="0" rtlCol="0" anchor="ctr"/>
          <a:lstStyle/>
          <a:p>
            <a:pPr indent="0" marL="0">
              <a:buNone/>
            </a:pPr>
            <a:r>
              <a:rPr lang="en-US" sz="3600" b="1" spc="400" kern="0" dirty="0">
                <a:solidFill>
                  <a:srgbClr val="FFFFFF"/>
                </a:solidFill>
                <a:latin typeface="Arial Black" pitchFamily="34" charset="0"/>
                <a:ea typeface="Arial Black" pitchFamily="34" charset="-122"/>
                <a:cs typeface="Arial Black" pitchFamily="34" charset="-120"/>
              </a:rPr>
              <a:t>SIGN-OFF &amp;</a:t>
            </a:r>
            <a:endParaRPr lang="en-US" sz="3600" dirty="0"/>
          </a:p>
          <a:p>
            <a:pPr indent="0" marL="0">
              <a:buNone/>
            </a:pPr>
            <a:r>
              <a:rPr lang="en-US" sz="3600" b="1" spc="400" kern="0" dirty="0">
                <a:solidFill>
                  <a:srgbClr val="FFFFFF"/>
                </a:solidFill>
                <a:latin typeface="Arial Black" pitchFamily="34" charset="0"/>
                <a:ea typeface="Arial Black" pitchFamily="34" charset="-122"/>
                <a:cs typeface="Arial Black" pitchFamily="34" charset="-120"/>
              </a:rPr>
              <a:t>NEXT STEPS</a:t>
            </a:r>
            <a:endParaRPr lang="en-US" sz="3600" dirty="0"/>
          </a:p>
        </p:txBody>
      </p:sp>
      <p:sp>
        <p:nvSpPr>
          <p:cNvPr id="5" name="Text 2"/>
          <p:cNvSpPr/>
          <p:nvPr/>
        </p:nvSpPr>
        <p:spPr>
          <a:xfrm>
            <a:off x="365760" y="2697480"/>
            <a:ext cx="8229600" cy="457200"/>
          </a:xfrm>
          <a:prstGeom prst="rect">
            <a:avLst/>
          </a:prstGeom>
          <a:noFill/>
          <a:ln/>
        </p:spPr>
        <p:txBody>
          <a:bodyPr wrap="square" lIns="0" tIns="0" rIns="0" bIns="0" rtlCol="0" anchor="ctr"/>
          <a:lstStyle/>
          <a:p>
            <a:pPr indent="0" marL="0">
              <a:buNone/>
            </a:pPr>
            <a:r>
              <a:rPr lang="en-US" sz="1800" dirty="0">
                <a:solidFill>
                  <a:srgbClr val="D0F0ED"/>
                </a:solidFill>
                <a:latin typeface="Calibri" pitchFamily="34" charset="0"/>
                <a:ea typeface="Calibri" pitchFamily="34" charset="-122"/>
                <a:cs typeface="Calibri" pitchFamily="34" charset="-120"/>
              </a:rPr>
              <a:t>Your QR code is your entry.</a:t>
            </a:r>
            <a:endParaRPr lang="en-US" sz="1800" dirty="0"/>
          </a:p>
        </p:txBody>
      </p:sp>
      <p:sp>
        <p:nvSpPr>
          <p:cNvPr id="6" name="Shape 3"/>
          <p:cNvSpPr/>
          <p:nvPr/>
        </p:nvSpPr>
        <p:spPr>
          <a:xfrm>
            <a:off x="0" y="4572000"/>
            <a:ext cx="9144000" cy="571500"/>
          </a:xfrm>
          <a:prstGeom prst="rect">
            <a:avLst/>
          </a:prstGeom>
          <a:solidFill>
            <a:srgbClr val="1B2A4A"/>
          </a:solidFill>
          <a:ln w="12700">
            <a:solidFill>
              <a:srgbClr val="1B2A4A"/>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3" name="Shape 0"/>
          <p:cNvSpPr/>
          <p:nvPr/>
        </p:nvSpPr>
        <p:spPr>
          <a:xfrm>
            <a:off x="0" y="0"/>
            <a:ext cx="9144000" cy="640080"/>
          </a:xfrm>
          <a:prstGeom prst="rect">
            <a:avLst/>
          </a:prstGeom>
          <a:solidFill>
            <a:srgbClr val="1B2A4A"/>
          </a:solidFill>
          <a:ln w="12700">
            <a:solidFill>
              <a:srgbClr val="1B2A4A"/>
            </a:solidFill>
            <a:prstDash val="solid"/>
          </a:ln>
        </p:spPr>
      </p:sp>
      <p:sp>
        <p:nvSpPr>
          <p:cNvPr id="4" name="Text 1"/>
          <p:cNvSpPr/>
          <p:nvPr/>
        </p:nvSpPr>
        <p:spPr>
          <a:xfrm>
            <a:off x="365760" y="91440"/>
            <a:ext cx="5486400" cy="457200"/>
          </a:xfrm>
          <a:prstGeom prst="rect">
            <a:avLst/>
          </a:prstGeom>
          <a:noFill/>
          <a:ln/>
        </p:spPr>
        <p:txBody>
          <a:bodyPr wrap="square" lIns="0" tIns="0" rIns="0" bIns="0" rtlCol="0" anchor="ctr"/>
          <a:lstStyle/>
          <a:p>
            <a:pPr indent="0" marL="0">
              <a:buNone/>
            </a:pPr>
            <a:r>
              <a:rPr lang="en-US" sz="1300" b="1" dirty="0">
                <a:solidFill>
                  <a:srgbClr val="14FFEC"/>
                </a:solidFill>
                <a:latin typeface="Calibri" pitchFamily="34" charset="0"/>
                <a:ea typeface="Calibri" pitchFamily="34" charset="-122"/>
                <a:cs typeface="Calibri" pitchFamily="34" charset="-120"/>
              </a:rPr>
              <a:t>SIGN-OFF</a:t>
            </a:r>
            <a:endParaRPr lang="en-US" sz="1300" dirty="0"/>
          </a:p>
        </p:txBody>
      </p:sp>
      <p:sp>
        <p:nvSpPr>
          <p:cNvPr id="5" name="Text 2"/>
          <p:cNvSpPr/>
          <p:nvPr/>
        </p:nvSpPr>
        <p:spPr>
          <a:xfrm>
            <a:off x="365760" y="777240"/>
            <a:ext cx="8412480" cy="594360"/>
          </a:xfrm>
          <a:prstGeom prst="rect">
            <a:avLst/>
          </a:prstGeom>
          <a:noFill/>
          <a:ln/>
        </p:spPr>
        <p:txBody>
          <a:bodyPr wrap="square" lIns="0" tIns="0" rIns="0" bIns="0" rtlCol="0" anchor="ctr"/>
          <a:lstStyle/>
          <a:p>
            <a:pPr indent="0" marL="0">
              <a:buNone/>
            </a:pPr>
            <a:r>
              <a:rPr lang="en-US" sz="2800" b="1" dirty="0">
                <a:solidFill>
                  <a:srgbClr val="1B2A4A"/>
                </a:solidFill>
                <a:latin typeface="Arial Black" pitchFamily="34" charset="0"/>
                <a:ea typeface="Arial Black" pitchFamily="34" charset="-122"/>
                <a:cs typeface="Arial Black" pitchFamily="34" charset="-120"/>
              </a:rPr>
              <a:t>Register → Watch → Sign → Show Up</a:t>
            </a:r>
            <a:endParaRPr lang="en-US" sz="2800" dirty="0"/>
          </a:p>
        </p:txBody>
      </p:sp>
      <p:sp>
        <p:nvSpPr>
          <p:cNvPr id="6" name="Shape 3"/>
          <p:cNvSpPr/>
          <p:nvPr/>
        </p:nvSpPr>
        <p:spPr>
          <a:xfrm>
            <a:off x="274320"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7" name="Shape 4"/>
          <p:cNvSpPr/>
          <p:nvPr/>
        </p:nvSpPr>
        <p:spPr>
          <a:xfrm>
            <a:off x="932688" y="1664208"/>
            <a:ext cx="685800" cy="685800"/>
          </a:xfrm>
          <a:prstGeom prst="ellipse">
            <a:avLst/>
          </a:prstGeom>
          <a:solidFill>
            <a:srgbClr val="0D7377"/>
          </a:solidFill>
          <a:ln w="12700">
            <a:solidFill>
              <a:srgbClr val="0D7377"/>
            </a:solidFill>
            <a:prstDash val="solid"/>
          </a:ln>
        </p:spPr>
      </p:sp>
      <p:sp>
        <p:nvSpPr>
          <p:cNvPr id="8" name="Text 5"/>
          <p:cNvSpPr/>
          <p:nvPr/>
        </p:nvSpPr>
        <p:spPr>
          <a:xfrm>
            <a:off x="932688"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9" name="Text 6"/>
          <p:cNvSpPr/>
          <p:nvPr/>
        </p:nvSpPr>
        <p:spPr>
          <a:xfrm>
            <a:off x="365760"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Register</a:t>
            </a:r>
            <a:endParaRPr lang="en-US" sz="1400" dirty="0"/>
          </a:p>
        </p:txBody>
      </p:sp>
      <p:sp>
        <p:nvSpPr>
          <p:cNvPr id="10" name="Text 7"/>
          <p:cNvSpPr/>
          <p:nvPr/>
        </p:nvSpPr>
        <p:spPr>
          <a:xfrm>
            <a:off x="365760"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Enter your name, email, and role at the link in the group post.</a:t>
            </a:r>
            <a:endParaRPr lang="en-US" sz="1100" dirty="0"/>
          </a:p>
        </p:txBody>
      </p:sp>
      <p:sp>
        <p:nvSpPr>
          <p:cNvPr id="11" name="Shape 8"/>
          <p:cNvSpPr/>
          <p:nvPr/>
        </p:nvSpPr>
        <p:spPr>
          <a:xfrm>
            <a:off x="2450592"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12" name="Shape 9"/>
          <p:cNvSpPr/>
          <p:nvPr/>
        </p:nvSpPr>
        <p:spPr>
          <a:xfrm>
            <a:off x="3108960" y="1664208"/>
            <a:ext cx="685800" cy="685800"/>
          </a:xfrm>
          <a:prstGeom prst="ellipse">
            <a:avLst/>
          </a:prstGeom>
          <a:solidFill>
            <a:srgbClr val="0D7377"/>
          </a:solidFill>
          <a:ln w="12700">
            <a:solidFill>
              <a:srgbClr val="0D7377"/>
            </a:solidFill>
            <a:prstDash val="solid"/>
          </a:ln>
        </p:spPr>
      </p:sp>
      <p:sp>
        <p:nvSpPr>
          <p:cNvPr id="13" name="Text 10"/>
          <p:cNvSpPr/>
          <p:nvPr/>
        </p:nvSpPr>
        <p:spPr>
          <a:xfrm>
            <a:off x="3108960"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4" name="Text 11"/>
          <p:cNvSpPr/>
          <p:nvPr/>
        </p:nvSpPr>
        <p:spPr>
          <a:xfrm>
            <a:off x="2542032"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Watch</a:t>
            </a:r>
            <a:endParaRPr lang="en-US" sz="1400" dirty="0"/>
          </a:p>
        </p:txBody>
      </p:sp>
      <p:sp>
        <p:nvSpPr>
          <p:cNvPr id="15" name="Text 12"/>
          <p:cNvSpPr/>
          <p:nvPr/>
        </p:nvSpPr>
        <p:spPr>
          <a:xfrm>
            <a:off x="2542032"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Complete this video in full. You must reach the end to unlock the next step.</a:t>
            </a:r>
            <a:endParaRPr lang="en-US" sz="1100" dirty="0"/>
          </a:p>
        </p:txBody>
      </p:sp>
      <p:sp>
        <p:nvSpPr>
          <p:cNvPr id="16" name="Shape 13"/>
          <p:cNvSpPr/>
          <p:nvPr/>
        </p:nvSpPr>
        <p:spPr>
          <a:xfrm>
            <a:off x="4626864"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17" name="Shape 14"/>
          <p:cNvSpPr/>
          <p:nvPr/>
        </p:nvSpPr>
        <p:spPr>
          <a:xfrm>
            <a:off x="5285232" y="1664208"/>
            <a:ext cx="685800" cy="685800"/>
          </a:xfrm>
          <a:prstGeom prst="ellipse">
            <a:avLst/>
          </a:prstGeom>
          <a:solidFill>
            <a:srgbClr val="0D7377"/>
          </a:solidFill>
          <a:ln w="12700">
            <a:solidFill>
              <a:srgbClr val="0D7377"/>
            </a:solidFill>
            <a:prstDash val="solid"/>
          </a:ln>
        </p:spPr>
      </p:sp>
      <p:sp>
        <p:nvSpPr>
          <p:cNvPr id="18" name="Text 15"/>
          <p:cNvSpPr/>
          <p:nvPr/>
        </p:nvSpPr>
        <p:spPr>
          <a:xfrm>
            <a:off x="5285232"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19" name="Text 16"/>
          <p:cNvSpPr/>
          <p:nvPr/>
        </p:nvSpPr>
        <p:spPr>
          <a:xfrm>
            <a:off x="4718304"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Acknowledge</a:t>
            </a:r>
            <a:endParaRPr lang="en-US" sz="1400" dirty="0"/>
          </a:p>
        </p:txBody>
      </p:sp>
      <p:sp>
        <p:nvSpPr>
          <p:cNvPr id="20" name="Text 17"/>
          <p:cNvSpPr/>
          <p:nvPr/>
        </p:nvSpPr>
        <p:spPr>
          <a:xfrm>
            <a:off x="4718304"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Check the box confirming you watched and agree to these standards.</a:t>
            </a:r>
            <a:endParaRPr lang="en-US" sz="1100" dirty="0"/>
          </a:p>
        </p:txBody>
      </p:sp>
      <p:sp>
        <p:nvSpPr>
          <p:cNvPr id="21" name="Shape 18"/>
          <p:cNvSpPr/>
          <p:nvPr/>
        </p:nvSpPr>
        <p:spPr>
          <a:xfrm>
            <a:off x="6803136" y="1508760"/>
            <a:ext cx="2011680" cy="2743200"/>
          </a:xfrm>
          <a:prstGeom prst="rect">
            <a:avLst/>
          </a:prstGeom>
          <a:solidFill>
            <a:srgbClr val="1B2A4A"/>
          </a:solidFill>
          <a:ln w="12700">
            <a:solidFill>
              <a:srgbClr val="1B2A4A"/>
            </a:solidFill>
            <a:prstDash val="solid"/>
          </a:ln>
          <a:effectLst>
            <a:outerShdw sx="100000" sy="100000" kx="0" ky="0" algn="bl" rotWithShape="0" blurRad="101600" dist="38100" dir="8100000">
              <a:srgbClr val="000000">
                <a:alpha val="18000"/>
              </a:srgbClr>
            </a:outerShdw>
          </a:effectLst>
        </p:spPr>
      </p:sp>
      <p:sp>
        <p:nvSpPr>
          <p:cNvPr id="22" name="Shape 19"/>
          <p:cNvSpPr/>
          <p:nvPr/>
        </p:nvSpPr>
        <p:spPr>
          <a:xfrm>
            <a:off x="7461504" y="1664208"/>
            <a:ext cx="685800" cy="685800"/>
          </a:xfrm>
          <a:prstGeom prst="ellipse">
            <a:avLst/>
          </a:prstGeom>
          <a:solidFill>
            <a:srgbClr val="0D7377"/>
          </a:solidFill>
          <a:ln w="12700">
            <a:solidFill>
              <a:srgbClr val="0D7377"/>
            </a:solidFill>
            <a:prstDash val="solid"/>
          </a:ln>
        </p:spPr>
      </p:sp>
      <p:sp>
        <p:nvSpPr>
          <p:cNvPr id="23" name="Text 20"/>
          <p:cNvSpPr/>
          <p:nvPr/>
        </p:nvSpPr>
        <p:spPr>
          <a:xfrm>
            <a:off x="7461504" y="1682496"/>
            <a:ext cx="68580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24" name="Text 21"/>
          <p:cNvSpPr/>
          <p:nvPr/>
        </p:nvSpPr>
        <p:spPr>
          <a:xfrm>
            <a:off x="6894576" y="2423160"/>
            <a:ext cx="182880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Get Your QR Code</a:t>
            </a:r>
            <a:endParaRPr lang="en-US" sz="1400" dirty="0"/>
          </a:p>
        </p:txBody>
      </p:sp>
      <p:sp>
        <p:nvSpPr>
          <p:cNvPr id="25" name="Text 22"/>
          <p:cNvSpPr/>
          <p:nvPr/>
        </p:nvSpPr>
        <p:spPr>
          <a:xfrm>
            <a:off x="6894576" y="2926080"/>
            <a:ext cx="1828800" cy="1234440"/>
          </a:xfrm>
          <a:prstGeom prst="rect">
            <a:avLst/>
          </a:prstGeom>
          <a:noFill/>
          <a:ln/>
        </p:spPr>
        <p:txBody>
          <a:bodyPr wrap="square" lIns="0" tIns="0" rIns="0" bIns="0" rtlCol="0" anchor="ctr"/>
          <a:lstStyle/>
          <a:p>
            <a:pPr algn="ctr" indent="0" marL="0">
              <a:buNone/>
            </a:pPr>
            <a:r>
              <a:rPr lang="en-US" sz="1100" dirty="0">
                <a:solidFill>
                  <a:srgbClr val="AABDCE"/>
                </a:solidFill>
                <a:latin typeface="Calibri" pitchFamily="34" charset="0"/>
                <a:ea typeface="Calibri" pitchFamily="34" charset="-122"/>
                <a:cs typeface="Calibri" pitchFamily="34" charset="-120"/>
              </a:rPr>
              <a:t>A personalized QR code is emailed to you. Save it to your phone.</a:t>
            </a:r>
            <a:endParaRPr lang="en-US" sz="1100" dirty="0"/>
          </a:p>
        </p:txBody>
      </p:sp>
      <p:sp>
        <p:nvSpPr>
          <p:cNvPr id="26" name="Shape 23"/>
          <p:cNvSpPr/>
          <p:nvPr/>
        </p:nvSpPr>
        <p:spPr>
          <a:xfrm>
            <a:off x="0" y="4663440"/>
            <a:ext cx="9144000" cy="480060"/>
          </a:xfrm>
          <a:prstGeom prst="rect">
            <a:avLst/>
          </a:prstGeom>
          <a:solidFill>
            <a:srgbClr val="1B2A4A"/>
          </a:solidFill>
          <a:ln w="12700">
            <a:solidFill>
              <a:srgbClr val="1B2A4A"/>
            </a:solidFill>
            <a:prstDash val="solid"/>
          </a:ln>
        </p:spPr>
      </p:sp>
      <p:sp>
        <p:nvSpPr>
          <p:cNvPr id="27" name="Text 24"/>
          <p:cNvSpPr/>
          <p:nvPr/>
        </p:nvSpPr>
        <p:spPr>
          <a:xfrm>
            <a:off x="0" y="4736592"/>
            <a:ext cx="9144000" cy="320040"/>
          </a:xfrm>
          <a:prstGeom prst="rect">
            <a:avLst/>
          </a:prstGeom>
          <a:noFill/>
          <a:ln/>
        </p:spPr>
        <p:txBody>
          <a:bodyPr wrap="square" lIns="0" tIns="0" rIns="0" bIns="0" rtlCol="0" anchor="ctr"/>
          <a:lstStyle/>
          <a:p>
            <a:pPr algn="ctr" indent="0" marL="0">
              <a:buNone/>
            </a:pPr>
            <a:r>
              <a:rPr lang="en-US" sz="1000" dirty="0">
                <a:solidFill>
                  <a:srgbClr val="8C9BAB"/>
                </a:solidFill>
                <a:latin typeface="Calibri" pitchFamily="34" charset="0"/>
                <a:ea typeface="Calibri" pitchFamily="34" charset="-122"/>
                <a:cs typeface="Calibri" pitchFamily="34" charset="-120"/>
              </a:rPr>
              <a:t>Safe Set Standards  •  Bay Area TFP Community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3" name="Shape 0"/>
          <p:cNvSpPr/>
          <p:nvPr/>
        </p:nvSpPr>
        <p:spPr>
          <a:xfrm>
            <a:off x="0" y="4572000"/>
            <a:ext cx="9144000" cy="571500"/>
          </a:xfrm>
          <a:prstGeom prst="rect">
            <a:avLst/>
          </a:prstGeom>
          <a:solidFill>
            <a:srgbClr val="0D7377"/>
          </a:solidFill>
          <a:ln w="12700">
            <a:solidFill>
              <a:srgbClr val="0D7377"/>
            </a:solidFill>
            <a:prstDash val="solid"/>
          </a:ln>
        </p:spPr>
      </p:sp>
      <p:sp>
        <p:nvSpPr>
          <p:cNvPr id="4" name="Shape 1"/>
          <p:cNvSpPr/>
          <p:nvPr/>
        </p:nvSpPr>
        <p:spPr>
          <a:xfrm>
            <a:off x="0" y="0"/>
            <a:ext cx="164592" cy="4572000"/>
          </a:xfrm>
          <a:prstGeom prst="rect">
            <a:avLst/>
          </a:prstGeom>
          <a:solidFill>
            <a:srgbClr val="0D7377"/>
          </a:solidFill>
          <a:ln w="12700">
            <a:solidFill>
              <a:srgbClr val="0D7377"/>
            </a:solidFill>
            <a:prstDash val="solid"/>
          </a:ln>
        </p:spPr>
      </p:sp>
      <p:pic>
        <p:nvPicPr>
          <p:cNvPr id="5" name="Image 0" descr="preencoded.png">    </p:cNvPr>
          <p:cNvPicPr>
            <a:picLocks noChangeAspect="1"/>
          </p:cNvPicPr>
          <p:nvPr/>
        </p:nvPicPr>
        <p:blipFill>
          <a:blip r:embed="rId1"/>
          <a:stretch>
            <a:fillRect/>
          </a:stretch>
        </p:blipFill>
        <p:spPr>
          <a:xfrm>
            <a:off x="7315200" y="548640"/>
            <a:ext cx="1280160" cy="1280160"/>
          </a:xfrm>
          <a:prstGeom prst="rect">
            <a:avLst/>
          </a:prstGeom>
        </p:spPr>
      </p:pic>
      <p:sp>
        <p:nvSpPr>
          <p:cNvPr id="6" name="Text 2"/>
          <p:cNvSpPr/>
          <p:nvPr/>
        </p:nvSpPr>
        <p:spPr>
          <a:xfrm>
            <a:off x="457200" y="914400"/>
            <a:ext cx="68580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Black" pitchFamily="34" charset="0"/>
                <a:ea typeface="Arial Black" pitchFamily="34" charset="-122"/>
                <a:cs typeface="Arial Black" pitchFamily="34" charset="-120"/>
              </a:rPr>
              <a:t>Now go make something great.</a:t>
            </a:r>
            <a:endParaRPr lang="en-US" sz="3800" dirty="0"/>
          </a:p>
        </p:txBody>
      </p:sp>
      <p:sp>
        <p:nvSpPr>
          <p:cNvPr id="7" name="Text 3"/>
          <p:cNvSpPr/>
          <p:nvPr/>
        </p:nvSpPr>
        <p:spPr>
          <a:xfrm>
            <a:off x="457200" y="1920240"/>
            <a:ext cx="6858000" cy="1097280"/>
          </a:xfrm>
          <a:prstGeom prst="rect">
            <a:avLst/>
          </a:prstGeom>
          <a:noFill/>
          <a:ln/>
        </p:spPr>
        <p:txBody>
          <a:bodyPr wrap="square" lIns="0" tIns="0" rIns="0" bIns="0" rtlCol="0" anchor="ctr"/>
          <a:lstStyle/>
          <a:p>
            <a:pPr indent="0" marL="0">
              <a:buNone/>
            </a:pPr>
            <a:r>
              <a:rPr lang="en-US" sz="1800" dirty="0">
                <a:solidFill>
                  <a:srgbClr val="AABDCE"/>
                </a:solidFill>
                <a:latin typeface="Calibri" pitchFamily="34" charset="0"/>
                <a:ea typeface="Calibri" pitchFamily="34" charset="-122"/>
                <a:cs typeface="Calibri" pitchFamily="34" charset="-120"/>
              </a:rPr>
              <a:t>You've agreed to the standards.</a:t>
            </a:r>
            <a:endParaRPr lang="en-US" sz="1800" dirty="0"/>
          </a:p>
          <a:p>
            <a:pPr indent="0" marL="0">
              <a:buNone/>
            </a:pPr>
            <a:r>
              <a:rPr lang="en-US" sz="1800" dirty="0">
                <a:solidFill>
                  <a:srgbClr val="AABDCE"/>
                </a:solidFill>
                <a:latin typeface="Calibri" pitchFamily="34" charset="0"/>
                <a:ea typeface="Calibri" pitchFamily="34" charset="-122"/>
                <a:cs typeface="Calibri" pitchFamily="34" charset="-120"/>
              </a:rPr>
              <a:t>You know what's expected.</a:t>
            </a:r>
            <a:endParaRPr lang="en-US" sz="1800" dirty="0"/>
          </a:p>
          <a:p>
            <a:pPr indent="0" marL="0">
              <a:buNone/>
            </a:pPr>
            <a:r>
              <a:rPr lang="en-US" sz="1800" dirty="0">
                <a:solidFill>
                  <a:srgbClr val="AABDCE"/>
                </a:solidFill>
                <a:latin typeface="Calibri" pitchFamily="34" charset="0"/>
                <a:ea typeface="Calibri" pitchFamily="34" charset="-122"/>
                <a:cs typeface="Calibri" pitchFamily="34" charset="-120"/>
              </a:rPr>
              <a:t>The rest is creativity.</a:t>
            </a:r>
            <a:endParaRPr lang="en-US" sz="1800" dirty="0"/>
          </a:p>
        </p:txBody>
      </p:sp>
      <p:sp>
        <p:nvSpPr>
          <p:cNvPr id="8" name="Text 4"/>
          <p:cNvSpPr/>
          <p:nvPr/>
        </p:nvSpPr>
        <p:spPr>
          <a:xfrm>
            <a:off x="457200" y="3200400"/>
            <a:ext cx="6858000" cy="502920"/>
          </a:xfrm>
          <a:prstGeom prst="rect">
            <a:avLst/>
          </a:prstGeom>
          <a:noFill/>
          <a:ln/>
        </p:spPr>
        <p:txBody>
          <a:bodyPr wrap="square" lIns="0" tIns="0" rIns="0" bIns="0" rtlCol="0" anchor="ctr"/>
          <a:lstStyle/>
          <a:p>
            <a:pPr indent="0" marL="0">
              <a:buNone/>
            </a:pPr>
            <a:r>
              <a:rPr lang="en-US" sz="1400" i="1" dirty="0">
                <a:solidFill>
                  <a:srgbClr val="14FFEC"/>
                </a:solidFill>
                <a:latin typeface="Calibri" pitchFamily="34" charset="0"/>
                <a:ea typeface="Calibri" pitchFamily="34" charset="-122"/>
                <a:cs typeface="Calibri" pitchFamily="34" charset="-120"/>
              </a:rPr>
              <a:t>No QR code = No entry. Sign off below this video to receive yours.</a:t>
            </a:r>
            <a:endParaRPr lang="en-US" sz="1400" dirty="0"/>
          </a:p>
        </p:txBody>
      </p:sp>
      <p:sp>
        <p:nvSpPr>
          <p:cNvPr id="9" name="Text 5"/>
          <p:cNvSpPr/>
          <p:nvPr/>
        </p:nvSpPr>
        <p:spPr>
          <a:xfrm>
            <a:off x="274320" y="4663440"/>
            <a:ext cx="8595360" cy="34747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Welcome to a safer, more professional creative community.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Set Standards — Bay Area TFP Community</dc:title>
  <dc:subject>PptxGenJS Presentation</dc:subject>
  <dc:creator>PptxGenJS</dc:creator>
  <cp:lastModifiedBy>PptxGenJS</cp:lastModifiedBy>
  <cp:revision>1</cp:revision>
  <dcterms:created xsi:type="dcterms:W3CDTF">2026-04-09T00:49:10Z</dcterms:created>
  <dcterms:modified xsi:type="dcterms:W3CDTF">2026-04-09T00:49:10Z</dcterms:modified>
</cp:coreProperties>
</file>